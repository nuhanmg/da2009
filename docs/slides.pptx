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61B22"/>
                </a:solidFill>
                <a:latin typeface="Calibri"/>
              </a:defRPr>
            </a:pPr>
            <a:r>
              <a:rPr sz="1600" b="0" i="0" u="none" strike="noStrike">
                <a:solidFill>
                  <a:srgbClr val="161B22"/>
                </a:solidFill>
                <a:latin typeface="Calibri"/>
              </a:rPr>
              <a:t>One trading day - 25 September 2026</a:t>
            </a:r>
          </a:p>
        </c:rich>
      </c:tx>
      <c:layout/>
      <c:overlay val="0"/>
    </c:title>
    <c:autoTitleDeleted val="0"/>
    <c:plotArea>
      <c:layout/>
      <c:barChart>
        <c:barDir val="col"/>
        <c:grouping val="clustered"/>
        <c:varyColors val="0"/>
        <c:ser>
          <c:idx val="0"/>
          <c:order val="0"/>
          <c:tx>
            <c:strRef>
              <c:f>Sheet1!$B$1</c:f>
              <c:strCache>
                <c:ptCount val="1"/>
                <c:pt idx="0">
                  <c:v>Companies</c:v>
                </c:pt>
              </c:strCache>
            </c:strRef>
          </c:tx>
          <c:spPr>
            <a:solidFill>
              <a:srgbClr val="047857"/>
            </a:solidFill>
            <a:effectLst/>
          </c:spPr>
          <c:invertIfNegative val="0"/>
          <c:dLbls>
            <c:numFmt formatCode="#,##0" sourceLinked="0"/>
            <c:txPr>
              <a:bodyPr/>
              <a:lstStyle/>
              <a:p>
                <a:pPr>
                  <a:defRPr b="1" i="0" strike="noStrike" sz="1600" u="none">
                    <a:solidFill>
                      <a:srgbClr val="161B22"/>
                    </a:solidFill>
                    <a:latin typeface="Calibri"/>
                  </a:defRPr>
                </a:pPr>
              </a:p>
            </c:txPr>
            <c:showLegendKey val="0"/>
            <c:showVal val="1"/>
            <c:showCatName val="0"/>
            <c:showSerName val="0"/>
            <c:showPercent val="0"/>
            <c:showBubbleSize val="0"/>
            <c:showLeaderLines val="0"/>
          </c:dLbls>
          <c:dPt>
            <c:idx val="0"/>
            <c:invertIfNegative val="0"/>
            <c:bubble3D val="0"/>
            <c:spPr>
              <a:solidFill>
                <a:srgbClr val="047857"/>
              </a:solidFill>
              <a:effectLst/>
            </c:spPr>
          </c:dPt>
          <c:dPt>
            <c:idx val="1"/>
            <c:invertIfNegative val="0"/>
            <c:bubble3D val="0"/>
            <c:spPr>
              <a:solidFill>
                <a:srgbClr val="DC2626"/>
              </a:solidFill>
              <a:effectLst/>
            </c:spPr>
          </c:dPt>
          <c:dPt>
            <c:idx val="2"/>
            <c:invertIfNegative val="0"/>
            <c:bubble3D val="0"/>
            <c:spPr>
              <a:solidFill>
                <a:srgbClr val="8B949E"/>
              </a:solidFill>
              <a:effectLst/>
            </c:spPr>
          </c:dPt>
          <c:cat>
            <c:multiLvlStrRef>
              <c:f>Sheet1!$A$2:$A$4</c:f>
              <c:multiLvlStrCache>
                <c:ptCount val="3"/>
                <c:lvl>
                  <c:pt idx="0">
                    <c:v>Rose</c:v>
                  </c:pt>
                  <c:pt idx="1">
                    <c:v>Fell</c:v>
                  </c:pt>
                  <c:pt idx="2">
                    <c:v>No change</c:v>
                  </c:pt>
                </c:lvl>
              </c:multiLvlStrCache>
            </c:multiLvlStrRef>
          </c:cat>
          <c:val>
            <c:numRef>
              <c:f>Sheet1!$B$2:$B$4</c:f>
              <c:numCache>
                <c:formatCode>General</c:formatCode>
                <c:ptCount val="3"/>
                <c:pt idx="0">
                  <c:v>96</c:v>
                </c:pt>
                <c:pt idx="1">
                  <c:v>113</c:v>
                </c:pt>
                <c:pt idx="2">
                  <c:v>75</c:v>
                </c:pt>
              </c:numCache>
            </c:numRef>
          </c:val>
        </c:ser>
        <c:dLbls>
          <c:numFmt formatCode="#,##0" sourceLinked="0"/>
          <c:txPr>
            <a:bodyPr/>
            <a:lstStyle/>
            <a:p>
              <a:pPr>
                <a:defRPr b="1" i="0" strike="noStrike" sz="1600" u="none">
                  <a:solidFill>
                    <a:srgbClr val="161B22"/>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0D7DE"/>
            </a:solidFill>
            <a:prstDash val="solid"/>
            <a:round/>
          </a:ln>
        </c:spPr>
        <c:txPr>
          <a:bodyPr/>
          <a:lstStyle/>
          <a:p>
            <a:pPr>
              <a:defRPr sz="1500" b="0" i="0" u="none" strike="noStrike">
                <a:solidFill>
                  <a:srgbClr val="161B22"/>
                </a:solidFill>
                <a:latin typeface="Calibri"/>
              </a:defRPr>
            </a:pPr>
            <a:endParaRPr lang="en-US"/>
          </a:p>
        </c:txPr>
        <c:crossAx val="2094734552"/>
        <c:crosses val="autoZero"/>
        <c:auto val="1"/>
        <c:lblAlgn val="ctr"/>
        <c:noMultiLvlLbl val="1"/>
      </c:catAx>
      <c:valAx>
        <c:axId val="2094734552"/>
        <c:scaling>
          <c:orientation val="minMax"/>
          <c:max val="1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PRESENTED BY: 24ada076 - Nuhan (opening)
Good morning. I'm Nuhan, and this is our DA 2009 group project: collecting data from the Colombo Stock Exchange website. Our group is Pasindu, Sasini, Salaama and me. I'll open, and my teammates will explain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PRESENTED BY: 24ada076 - Nuhan (opening)
We collect three kinds of public data: today's share prices for every listed company, details about individual companies, and company announcements, many of them as PDF files. No logins, and nothing personal.
But our first attempt found almost nothing - and that's where the story starts.
(Hand over to the next 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any member can present.)
We started the way the course taught us, with requests and BeautifulSoup. The trade summary page gave us just 24 characters of text and no tables.
CSE builds its pages with JavaScript, and requests never runs it. Selenium, a real browser, did see the table - but it took over five seconds for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pressed F12 and watched the Network tab. The page fetches its prices from addresses like api/tradeSummary, which answer in JSON.
We ask those addresses directly - most of them only answer POST requests - and pandas turns the JSON into a table. One request gives us all 284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scraping is a main part of the marks, so every request goes through one function.
It checks robots.txt - CSE only blocks cgi-bin, which we never use. It waits 1.5 seconds, even though CSE doesn't ask us to. It says who we are, logs every request, and keeps a copy so we never ask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announcements, our crawler reads the list of circulars, finds each PDF on CSE's file server, and downloads a few at a time - skipping copies, and checking each one really is a PDF.
pdfplumber reads most of them. But one was a scan - a photo of a page, with no text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scans we use OCR, in the four steps from the lecture. pdfplumber makes an image. OpenCV turns it grey, then pure black and white - you can see the difference here. pytesseract reads the letters, and pandas tidies the result.
Every word gets a confidence score, so we know which words to check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data is never ready to use. We turn dates from huge numbers into Sri Lanka time, and check the values make sense - all six checks passed.
On this day, 96 companies rose, 113 fell and 75 didn't move. We save CSV, Excel and JSON, crediting the Colombo Stock Exchange in every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who built each part. Every tab in the app is labelled with its member, and we put the app together as a team.
Thank you. We're happy to take your questions, and we can show any part of it running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960120"/>
            <a:ext cx="7132320" cy="365760"/>
          </a:xfrm>
          <a:prstGeom prst="rect">
            <a:avLst/>
          </a:prstGeom>
          <a:noFill/>
          <a:ln/>
        </p:spPr>
        <p:txBody>
          <a:bodyPr wrap="square" lIns="0" tIns="0" rIns="0" bIns="0" rtlCol="0" anchor="t"/>
          <a:lstStyle/>
          <a:p>
            <a:pPr indent="0" marL="0">
              <a:buNone/>
            </a:pPr>
            <a:r>
              <a:rPr lang="en-US" sz="1600" b="1" dirty="0">
                <a:solidFill>
                  <a:srgbClr val="22D3EE"/>
                </a:solidFill>
                <a:latin typeface="Calibri" pitchFamily="34" charset="0"/>
                <a:ea typeface="Calibri" pitchFamily="34" charset="-122"/>
                <a:cs typeface="Calibri" pitchFamily="34" charset="-120"/>
              </a:rPr>
              <a:t>DA 2009  |  Data Collection Methods II  |  Assignment 2</a:t>
            </a:r>
            <a:endParaRPr lang="en-US" sz="1600" dirty="0"/>
          </a:p>
        </p:txBody>
      </p:sp>
      <p:sp>
        <p:nvSpPr>
          <p:cNvPr id="3" name="Text 1"/>
          <p:cNvSpPr txBox="1"/>
          <p:nvPr/>
        </p:nvSpPr>
        <p:spPr>
          <a:xfrm>
            <a:off x="548640" y="1463040"/>
            <a:ext cx="6949440" cy="192024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Collecting data from the Colombo Stock Exchange</a:t>
            </a:r>
            <a:endParaRPr lang="en-US" sz="4400" dirty="0"/>
          </a:p>
        </p:txBody>
      </p:sp>
      <p:sp>
        <p:nvSpPr>
          <p:cNvPr id="4" name="Text 2"/>
          <p:cNvSpPr txBox="1"/>
          <p:nvPr/>
        </p:nvSpPr>
        <p:spPr>
          <a:xfrm>
            <a:off x="548640" y="3291840"/>
            <a:ext cx="6583680" cy="868680"/>
          </a:xfrm>
          <a:prstGeom prst="rect">
            <a:avLst/>
          </a:prstGeom>
          <a:noFill/>
          <a:ln/>
        </p:spPr>
        <p:txBody>
          <a:bodyPr wrap="square" lIns="0" tIns="0" rIns="0" bIns="0" rtlCol="0" anchor="t"/>
          <a:lstStyle/>
          <a:p>
            <a:pPr indent="0" marL="0">
              <a:buNone/>
            </a:pPr>
            <a:r>
              <a:rPr lang="en-US" sz="2000" dirty="0">
                <a:solidFill>
                  <a:srgbClr val="C9D1D9"/>
                </a:solidFill>
                <a:latin typeface="Calibri" pitchFamily="34" charset="0"/>
                <a:ea typeface="Calibri" pitchFamily="34" charset="-122"/>
                <a:cs typeface="Calibri" pitchFamily="34" charset="-120"/>
              </a:rPr>
              <a:t>Share prices, company details and announcements - collected ethically, with Python</a:t>
            </a:r>
            <a:endParaRPr lang="en-US" sz="2000" dirty="0"/>
          </a:p>
        </p:txBody>
      </p:sp>
      <p:sp>
        <p:nvSpPr>
          <p:cNvPr id="5" name="Text 3"/>
          <p:cNvSpPr txBox="1"/>
          <p:nvPr/>
        </p:nvSpPr>
        <p:spPr>
          <a:xfrm>
            <a:off x="548640" y="4754880"/>
            <a:ext cx="31089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Pasindu</a:t>
            </a:r>
            <a:pPr indent="0" marL="0">
              <a:buNone/>
            </a:pPr>
            <a:r>
              <a:rPr lang="en-US" sz="1600" dirty="0">
                <a:solidFill>
                  <a:srgbClr val="8B949E"/>
                </a:solidFill>
                <a:latin typeface="Calibri" pitchFamily="34" charset="0"/>
                <a:ea typeface="Calibri" pitchFamily="34" charset="-122"/>
                <a:cs typeface="Calibri" pitchFamily="34" charset="-120"/>
              </a:rPr>
              <a:t>   25ada072</a:t>
            </a:r>
            <a:endParaRPr lang="en-US" sz="1600" dirty="0"/>
          </a:p>
        </p:txBody>
      </p:sp>
      <p:sp>
        <p:nvSpPr>
          <p:cNvPr id="6" name="Text 4"/>
          <p:cNvSpPr txBox="1"/>
          <p:nvPr/>
        </p:nvSpPr>
        <p:spPr>
          <a:xfrm>
            <a:off x="3840480" y="4754880"/>
            <a:ext cx="31089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Sasini</a:t>
            </a:r>
            <a:pPr indent="0" marL="0">
              <a:buNone/>
            </a:pPr>
            <a:r>
              <a:rPr lang="en-US" sz="1600" dirty="0">
                <a:solidFill>
                  <a:srgbClr val="8B949E"/>
                </a:solidFill>
                <a:latin typeface="Calibri" pitchFamily="34" charset="0"/>
                <a:ea typeface="Calibri" pitchFamily="34" charset="-122"/>
                <a:cs typeface="Calibri" pitchFamily="34" charset="-120"/>
              </a:rPr>
              <a:t>   25ada073</a:t>
            </a:r>
            <a:endParaRPr lang="en-US" sz="1600" dirty="0"/>
          </a:p>
        </p:txBody>
      </p:sp>
      <p:sp>
        <p:nvSpPr>
          <p:cNvPr id="7" name="Text 5"/>
          <p:cNvSpPr txBox="1"/>
          <p:nvPr/>
        </p:nvSpPr>
        <p:spPr>
          <a:xfrm>
            <a:off x="548640" y="5212080"/>
            <a:ext cx="31089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Salaama</a:t>
            </a:r>
            <a:pPr indent="0" marL="0">
              <a:buNone/>
            </a:pPr>
            <a:r>
              <a:rPr lang="en-US" sz="1600" dirty="0">
                <a:solidFill>
                  <a:srgbClr val="8B949E"/>
                </a:solidFill>
                <a:latin typeface="Calibri" pitchFamily="34" charset="0"/>
                <a:ea typeface="Calibri" pitchFamily="34" charset="-122"/>
                <a:cs typeface="Calibri" pitchFamily="34" charset="-120"/>
              </a:rPr>
              <a:t>   25ada141</a:t>
            </a:r>
            <a:endParaRPr lang="en-US" sz="1600" dirty="0"/>
          </a:p>
        </p:txBody>
      </p:sp>
      <p:sp>
        <p:nvSpPr>
          <p:cNvPr id="8" name="Text 6"/>
          <p:cNvSpPr txBox="1"/>
          <p:nvPr/>
        </p:nvSpPr>
        <p:spPr>
          <a:xfrm>
            <a:off x="3840480" y="5212080"/>
            <a:ext cx="31089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Nuhan</a:t>
            </a:r>
            <a:pPr indent="0" marL="0">
              <a:buNone/>
            </a:pPr>
            <a:r>
              <a:rPr lang="en-US" sz="1600" dirty="0">
                <a:solidFill>
                  <a:srgbClr val="8B949E"/>
                </a:solidFill>
                <a:latin typeface="Calibri" pitchFamily="34" charset="0"/>
                <a:ea typeface="Calibri" pitchFamily="34" charset="-122"/>
                <a:cs typeface="Calibri" pitchFamily="34" charset="-120"/>
              </a:rPr>
              <a:t>   24ada076</a:t>
            </a:r>
            <a:endParaRPr lang="en-US" sz="1600" dirty="0"/>
          </a:p>
        </p:txBody>
      </p:sp>
      <p:sp>
        <p:nvSpPr>
          <p:cNvPr id="9" name="Text 7"/>
          <p:cNvSpPr txBox="1"/>
          <p:nvPr/>
        </p:nvSpPr>
        <p:spPr>
          <a:xfrm>
            <a:off x="548640" y="5852160"/>
            <a:ext cx="4572000" cy="365760"/>
          </a:xfrm>
          <a:prstGeom prst="rect">
            <a:avLst/>
          </a:prstGeom>
          <a:noFill/>
          <a:ln/>
        </p:spPr>
        <p:txBody>
          <a:bodyPr wrap="square" lIns="0" tIns="0" rIns="0" bIns="0" rtlCol="0" anchor="t"/>
          <a:lstStyle/>
          <a:p>
            <a:pPr indent="0" marL="0">
              <a:buNone/>
            </a:pPr>
            <a:r>
              <a:rPr lang="en-US" sz="1400" dirty="0">
                <a:solidFill>
                  <a:srgbClr val="8B949E"/>
                </a:solidFill>
                <a:latin typeface="Calibri" pitchFamily="34" charset="0"/>
                <a:ea typeface="Calibri" pitchFamily="34" charset="-122"/>
                <a:cs typeface="Calibri" pitchFamily="34" charset="-120"/>
              </a:rPr>
              <a:t>University of Colombo</a:t>
            </a:r>
            <a:endParaRPr lang="en-US" sz="1400" dirty="0"/>
          </a:p>
        </p:txBody>
      </p:sp>
      <p:sp>
        <p:nvSpPr>
          <p:cNvPr id="10" name="Shape 8"/>
          <p:cNvSpPr/>
          <p:nvPr/>
        </p:nvSpPr>
        <p:spPr>
          <a:xfrm>
            <a:off x="8138160" y="3657600"/>
            <a:ext cx="0" cy="1097280"/>
          </a:xfrm>
          <a:prstGeom prst="line">
            <a:avLst/>
          </a:prstGeom>
          <a:noFill/>
          <a:ln w="19050">
            <a:solidFill>
              <a:srgbClr val="34D399"/>
            </a:solidFill>
            <a:prstDash val="solid"/>
          </a:ln>
        </p:spPr>
      </p:sp>
      <p:sp>
        <p:nvSpPr>
          <p:cNvPr id="11" name="Shape 9"/>
          <p:cNvSpPr/>
          <p:nvPr/>
        </p:nvSpPr>
        <p:spPr>
          <a:xfrm>
            <a:off x="8001000" y="3931920"/>
            <a:ext cx="274320" cy="548640"/>
          </a:xfrm>
          <a:prstGeom prst="rect">
            <a:avLst/>
          </a:prstGeom>
          <a:solidFill>
            <a:srgbClr val="34D399"/>
          </a:solidFill>
          <a:ln w="12700">
            <a:solidFill>
              <a:srgbClr val="34D399"/>
            </a:solidFill>
            <a:prstDash val="solid"/>
          </a:ln>
        </p:spPr>
      </p:sp>
      <p:sp>
        <p:nvSpPr>
          <p:cNvPr id="12" name="Shape 10"/>
          <p:cNvSpPr/>
          <p:nvPr/>
        </p:nvSpPr>
        <p:spPr>
          <a:xfrm>
            <a:off x="8613648" y="3657600"/>
            <a:ext cx="0" cy="868680"/>
          </a:xfrm>
          <a:prstGeom prst="line">
            <a:avLst/>
          </a:prstGeom>
          <a:noFill/>
          <a:ln w="19050">
            <a:solidFill>
              <a:srgbClr val="F87171"/>
            </a:solidFill>
            <a:prstDash val="solid"/>
          </a:ln>
        </p:spPr>
      </p:sp>
      <p:sp>
        <p:nvSpPr>
          <p:cNvPr id="13" name="Shape 11"/>
          <p:cNvSpPr/>
          <p:nvPr/>
        </p:nvSpPr>
        <p:spPr>
          <a:xfrm>
            <a:off x="8476488" y="3931920"/>
            <a:ext cx="274320" cy="320040"/>
          </a:xfrm>
          <a:prstGeom prst="rect">
            <a:avLst/>
          </a:prstGeom>
          <a:solidFill>
            <a:srgbClr val="F87171"/>
          </a:solidFill>
          <a:ln w="12700">
            <a:solidFill>
              <a:srgbClr val="F87171"/>
            </a:solidFill>
            <a:prstDash val="solid"/>
          </a:ln>
        </p:spPr>
      </p:sp>
      <p:sp>
        <p:nvSpPr>
          <p:cNvPr id="14" name="Shape 12"/>
          <p:cNvSpPr/>
          <p:nvPr/>
        </p:nvSpPr>
        <p:spPr>
          <a:xfrm>
            <a:off x="9089136" y="3291840"/>
            <a:ext cx="0" cy="1234440"/>
          </a:xfrm>
          <a:prstGeom prst="line">
            <a:avLst/>
          </a:prstGeom>
          <a:noFill/>
          <a:ln w="19050">
            <a:solidFill>
              <a:srgbClr val="34D399"/>
            </a:solidFill>
            <a:prstDash val="solid"/>
          </a:ln>
        </p:spPr>
      </p:sp>
      <p:sp>
        <p:nvSpPr>
          <p:cNvPr id="15" name="Shape 13"/>
          <p:cNvSpPr/>
          <p:nvPr/>
        </p:nvSpPr>
        <p:spPr>
          <a:xfrm>
            <a:off x="8951976" y="3566160"/>
            <a:ext cx="274320" cy="685800"/>
          </a:xfrm>
          <a:prstGeom prst="rect">
            <a:avLst/>
          </a:prstGeom>
          <a:solidFill>
            <a:srgbClr val="34D399"/>
          </a:solidFill>
          <a:ln w="12700">
            <a:solidFill>
              <a:srgbClr val="34D399"/>
            </a:solidFill>
            <a:prstDash val="solid"/>
          </a:ln>
        </p:spPr>
      </p:sp>
      <p:sp>
        <p:nvSpPr>
          <p:cNvPr id="16" name="Shape 14"/>
          <p:cNvSpPr/>
          <p:nvPr/>
        </p:nvSpPr>
        <p:spPr>
          <a:xfrm>
            <a:off x="9564624" y="2788920"/>
            <a:ext cx="0" cy="1051560"/>
          </a:xfrm>
          <a:prstGeom prst="line">
            <a:avLst/>
          </a:prstGeom>
          <a:noFill/>
          <a:ln w="19050">
            <a:solidFill>
              <a:srgbClr val="34D399"/>
            </a:solidFill>
            <a:prstDash val="solid"/>
          </a:ln>
        </p:spPr>
      </p:sp>
      <p:sp>
        <p:nvSpPr>
          <p:cNvPr id="17" name="Shape 15"/>
          <p:cNvSpPr/>
          <p:nvPr/>
        </p:nvSpPr>
        <p:spPr>
          <a:xfrm>
            <a:off x="9427464" y="3063240"/>
            <a:ext cx="274320" cy="502920"/>
          </a:xfrm>
          <a:prstGeom prst="rect">
            <a:avLst/>
          </a:prstGeom>
          <a:solidFill>
            <a:srgbClr val="34D399"/>
          </a:solidFill>
          <a:ln w="12700">
            <a:solidFill>
              <a:srgbClr val="34D399"/>
            </a:solidFill>
            <a:prstDash val="solid"/>
          </a:ln>
        </p:spPr>
      </p:sp>
      <p:sp>
        <p:nvSpPr>
          <p:cNvPr id="18" name="Shape 16"/>
          <p:cNvSpPr/>
          <p:nvPr/>
        </p:nvSpPr>
        <p:spPr>
          <a:xfrm>
            <a:off x="10040112" y="2788920"/>
            <a:ext cx="0" cy="914400"/>
          </a:xfrm>
          <a:prstGeom prst="line">
            <a:avLst/>
          </a:prstGeom>
          <a:noFill/>
          <a:ln w="19050">
            <a:solidFill>
              <a:srgbClr val="F87171"/>
            </a:solidFill>
            <a:prstDash val="solid"/>
          </a:ln>
        </p:spPr>
      </p:sp>
      <p:sp>
        <p:nvSpPr>
          <p:cNvPr id="19" name="Shape 17"/>
          <p:cNvSpPr/>
          <p:nvPr/>
        </p:nvSpPr>
        <p:spPr>
          <a:xfrm>
            <a:off x="9902952" y="3063240"/>
            <a:ext cx="274320" cy="365760"/>
          </a:xfrm>
          <a:prstGeom prst="rect">
            <a:avLst/>
          </a:prstGeom>
          <a:solidFill>
            <a:srgbClr val="F87171"/>
          </a:solidFill>
          <a:ln w="12700">
            <a:solidFill>
              <a:srgbClr val="F87171"/>
            </a:solidFill>
            <a:prstDash val="solid"/>
          </a:ln>
        </p:spPr>
      </p:sp>
      <p:sp>
        <p:nvSpPr>
          <p:cNvPr id="20" name="Shape 18"/>
          <p:cNvSpPr/>
          <p:nvPr/>
        </p:nvSpPr>
        <p:spPr>
          <a:xfrm>
            <a:off x="10515600" y="2377440"/>
            <a:ext cx="0" cy="1325880"/>
          </a:xfrm>
          <a:prstGeom prst="line">
            <a:avLst/>
          </a:prstGeom>
          <a:noFill/>
          <a:ln w="19050">
            <a:solidFill>
              <a:srgbClr val="34D399"/>
            </a:solidFill>
            <a:prstDash val="solid"/>
          </a:ln>
        </p:spPr>
      </p:sp>
      <p:sp>
        <p:nvSpPr>
          <p:cNvPr id="21" name="Shape 19"/>
          <p:cNvSpPr/>
          <p:nvPr/>
        </p:nvSpPr>
        <p:spPr>
          <a:xfrm>
            <a:off x="10378440" y="2651760"/>
            <a:ext cx="274320" cy="777240"/>
          </a:xfrm>
          <a:prstGeom prst="rect">
            <a:avLst/>
          </a:prstGeom>
          <a:solidFill>
            <a:srgbClr val="34D399"/>
          </a:solidFill>
          <a:ln w="12700">
            <a:solidFill>
              <a:srgbClr val="34D399"/>
            </a:solidFill>
            <a:prstDash val="solid"/>
          </a:ln>
        </p:spPr>
      </p:sp>
      <p:sp>
        <p:nvSpPr>
          <p:cNvPr id="22" name="Shape 20"/>
          <p:cNvSpPr/>
          <p:nvPr/>
        </p:nvSpPr>
        <p:spPr>
          <a:xfrm>
            <a:off x="10991088" y="1737360"/>
            <a:ext cx="0" cy="1188720"/>
          </a:xfrm>
          <a:prstGeom prst="line">
            <a:avLst/>
          </a:prstGeom>
          <a:noFill/>
          <a:ln w="19050">
            <a:solidFill>
              <a:srgbClr val="34D399"/>
            </a:solidFill>
            <a:prstDash val="solid"/>
          </a:ln>
        </p:spPr>
      </p:sp>
      <p:sp>
        <p:nvSpPr>
          <p:cNvPr id="23" name="Shape 21"/>
          <p:cNvSpPr/>
          <p:nvPr/>
        </p:nvSpPr>
        <p:spPr>
          <a:xfrm>
            <a:off x="10853928" y="2011680"/>
            <a:ext cx="274320" cy="640080"/>
          </a:xfrm>
          <a:prstGeom prst="rect">
            <a:avLst/>
          </a:prstGeom>
          <a:solidFill>
            <a:srgbClr val="34D399"/>
          </a:solidFill>
          <a:ln w="12700">
            <a:solidFill>
              <a:srgbClr val="34D399"/>
            </a:solidFill>
            <a:prstDash val="solid"/>
          </a:ln>
        </p:spPr>
      </p:sp>
      <p:sp>
        <p:nvSpPr>
          <p:cNvPr id="24" name="Shape 22"/>
          <p:cNvSpPr/>
          <p:nvPr/>
        </p:nvSpPr>
        <p:spPr>
          <a:xfrm>
            <a:off x="11466576" y="1737360"/>
            <a:ext cx="0" cy="868680"/>
          </a:xfrm>
          <a:prstGeom prst="line">
            <a:avLst/>
          </a:prstGeom>
          <a:noFill/>
          <a:ln w="19050">
            <a:solidFill>
              <a:srgbClr val="F87171"/>
            </a:solidFill>
            <a:prstDash val="solid"/>
          </a:ln>
        </p:spPr>
      </p:sp>
      <p:sp>
        <p:nvSpPr>
          <p:cNvPr id="25" name="Shape 23"/>
          <p:cNvSpPr/>
          <p:nvPr/>
        </p:nvSpPr>
        <p:spPr>
          <a:xfrm>
            <a:off x="11329416" y="2011680"/>
            <a:ext cx="274320" cy="320040"/>
          </a:xfrm>
          <a:prstGeom prst="rect">
            <a:avLst/>
          </a:prstGeom>
          <a:solidFill>
            <a:srgbClr val="F87171"/>
          </a:solidFill>
          <a:ln w="12700">
            <a:solidFill>
              <a:srgbClr val="F8717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600" b="1" dirty="0">
                <a:solidFill>
                  <a:srgbClr val="161B22"/>
                </a:solidFill>
                <a:latin typeface="Calibri" pitchFamily="34" charset="0"/>
                <a:ea typeface="Calibri" pitchFamily="34" charset="-122"/>
                <a:cs typeface="Calibri" pitchFamily="34" charset="-120"/>
              </a:rPr>
              <a:t>What we collect</a:t>
            </a:r>
            <a:endParaRPr lang="en-US" sz="3600" dirty="0"/>
          </a:p>
        </p:txBody>
      </p:sp>
      <p:sp>
        <p:nvSpPr>
          <p:cNvPr id="3" name="Text 1"/>
          <p:cNvSpPr txBox="1"/>
          <p:nvPr/>
        </p:nvSpPr>
        <p:spPr>
          <a:xfrm>
            <a:off x="548640" y="1143000"/>
            <a:ext cx="11094415" cy="411480"/>
          </a:xfrm>
          <a:prstGeom prst="rect">
            <a:avLst/>
          </a:prstGeom>
          <a:noFill/>
          <a:ln/>
        </p:spPr>
        <p:txBody>
          <a:bodyPr wrap="square" lIns="0" tIns="0" rIns="0" bIns="0" rtlCol="0" anchor="t"/>
          <a:lstStyle/>
          <a:p>
            <a:pPr indent="0" marL="0">
              <a:buNone/>
            </a:pPr>
            <a:r>
              <a:rPr lang="en-US" sz="1800" dirty="0">
                <a:solidFill>
                  <a:srgbClr val="57606A"/>
                </a:solidFill>
                <a:latin typeface="Calibri" pitchFamily="34" charset="0"/>
                <a:ea typeface="Calibri" pitchFamily="34" charset="-122"/>
                <a:cs typeface="Calibri" pitchFamily="34" charset="-120"/>
              </a:rPr>
              <a:t>Three kinds of public data from www.cse.lk - no logins, nothing personal</a:t>
            </a:r>
            <a:endParaRPr lang="en-US" sz="1800" dirty="0"/>
          </a:p>
        </p:txBody>
      </p:sp>
      <p:sp>
        <p:nvSpPr>
          <p:cNvPr id="4" name="Shape 2"/>
          <p:cNvSpPr/>
          <p:nvPr/>
        </p:nvSpPr>
        <p:spPr>
          <a:xfrm>
            <a:off x="548640" y="1874520"/>
            <a:ext cx="3520440" cy="2743200"/>
          </a:xfrm>
          <a:prstGeom prst="roundRect">
            <a:avLst>
              <a:gd name="adj" fmla="val 4000"/>
            </a:avLst>
          </a:prstGeom>
          <a:solidFill>
            <a:srgbClr val="F1F5F9"/>
          </a:solidFill>
          <a:ln w="12700">
            <a:solidFill>
              <a:srgbClr val="F1F5F9"/>
            </a:solidFill>
            <a:prstDash val="solid"/>
          </a:ln>
        </p:spPr>
      </p:sp>
      <p:sp>
        <p:nvSpPr>
          <p:cNvPr id="5" name="Shape 3"/>
          <p:cNvSpPr/>
          <p:nvPr/>
        </p:nvSpPr>
        <p:spPr>
          <a:xfrm>
            <a:off x="868680" y="2194560"/>
            <a:ext cx="640080" cy="640080"/>
          </a:xfrm>
          <a:prstGeom prst="ellipse">
            <a:avLst/>
          </a:prstGeom>
          <a:solidFill>
            <a:srgbClr val="0891B2"/>
          </a:solidFill>
          <a:ln w="12700">
            <a:solidFill>
              <a:srgbClr val="0891B2"/>
            </a:solidFill>
            <a:prstDash val="solid"/>
          </a:ln>
        </p:spPr>
      </p:sp>
      <p:sp>
        <p:nvSpPr>
          <p:cNvPr id="6" name="Text 4"/>
          <p:cNvSpPr txBox="1"/>
          <p:nvPr/>
        </p:nvSpPr>
        <p:spPr>
          <a:xfrm>
            <a:off x="868680" y="21945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868680" y="3017520"/>
            <a:ext cx="2880360" cy="457200"/>
          </a:xfrm>
          <a:prstGeom prst="rect">
            <a:avLst/>
          </a:prstGeom>
          <a:noFill/>
          <a:ln/>
        </p:spPr>
        <p:txBody>
          <a:bodyPr wrap="square" lIns="0" tIns="0" rIns="0" bIns="0" rtlCol="0" anchor="t"/>
          <a:lstStyle/>
          <a:p>
            <a:pPr indent="0" marL="0">
              <a:buNone/>
            </a:pPr>
            <a:r>
              <a:rPr lang="en-US" sz="2200" b="1" dirty="0">
                <a:solidFill>
                  <a:srgbClr val="161B22"/>
                </a:solidFill>
                <a:latin typeface="Calibri" pitchFamily="34" charset="0"/>
                <a:ea typeface="Calibri" pitchFamily="34" charset="-122"/>
                <a:cs typeface="Calibri" pitchFamily="34" charset="-120"/>
              </a:rPr>
              <a:t>Share prices</a:t>
            </a:r>
            <a:endParaRPr lang="en-US" sz="2200" dirty="0"/>
          </a:p>
        </p:txBody>
      </p:sp>
      <p:sp>
        <p:nvSpPr>
          <p:cNvPr id="8" name="Text 6"/>
          <p:cNvSpPr txBox="1"/>
          <p:nvPr/>
        </p:nvSpPr>
        <p:spPr>
          <a:xfrm>
            <a:off x="868680" y="3520440"/>
            <a:ext cx="2880360" cy="1005840"/>
          </a:xfrm>
          <a:prstGeom prst="rect">
            <a:avLst/>
          </a:prstGeom>
          <a:noFill/>
          <a:ln/>
        </p:spPr>
        <p:txBody>
          <a:bodyPr wrap="square" lIns="0" tIns="0" rIns="0" bIns="0" rtlCol="0" anchor="t"/>
          <a:lstStyle/>
          <a:p>
            <a:pPr indent="0" marL="0">
              <a:buNone/>
            </a:pPr>
            <a:r>
              <a:rPr lang="en-US" sz="1600" dirty="0">
                <a:solidFill>
                  <a:srgbClr val="57606A"/>
                </a:solidFill>
                <a:latin typeface="Calibri" pitchFamily="34" charset="0"/>
                <a:ea typeface="Calibri" pitchFamily="34" charset="-122"/>
                <a:cs typeface="Calibri" pitchFamily="34" charset="-120"/>
              </a:rPr>
              <a:t>Today's price, change and turnover for every listed company - about 284 of them.</a:t>
            </a:r>
            <a:endParaRPr lang="en-US" sz="1600" dirty="0"/>
          </a:p>
        </p:txBody>
      </p:sp>
      <p:sp>
        <p:nvSpPr>
          <p:cNvPr id="9" name="Shape 7"/>
          <p:cNvSpPr/>
          <p:nvPr/>
        </p:nvSpPr>
        <p:spPr>
          <a:xfrm>
            <a:off x="4325112" y="1874520"/>
            <a:ext cx="3520440" cy="2743200"/>
          </a:xfrm>
          <a:prstGeom prst="roundRect">
            <a:avLst>
              <a:gd name="adj" fmla="val 4000"/>
            </a:avLst>
          </a:prstGeom>
          <a:solidFill>
            <a:srgbClr val="F1F5F9"/>
          </a:solidFill>
          <a:ln w="12700">
            <a:solidFill>
              <a:srgbClr val="F1F5F9"/>
            </a:solidFill>
            <a:prstDash val="solid"/>
          </a:ln>
        </p:spPr>
      </p:sp>
      <p:sp>
        <p:nvSpPr>
          <p:cNvPr id="10" name="Shape 8"/>
          <p:cNvSpPr/>
          <p:nvPr/>
        </p:nvSpPr>
        <p:spPr>
          <a:xfrm>
            <a:off x="4645152" y="2194560"/>
            <a:ext cx="640080" cy="640080"/>
          </a:xfrm>
          <a:prstGeom prst="ellipse">
            <a:avLst/>
          </a:prstGeom>
          <a:solidFill>
            <a:srgbClr val="0891B2"/>
          </a:solidFill>
          <a:ln w="12700">
            <a:solidFill>
              <a:srgbClr val="0891B2"/>
            </a:solidFill>
            <a:prstDash val="solid"/>
          </a:ln>
        </p:spPr>
      </p:sp>
      <p:sp>
        <p:nvSpPr>
          <p:cNvPr id="11" name="Text 9"/>
          <p:cNvSpPr txBox="1"/>
          <p:nvPr/>
        </p:nvSpPr>
        <p:spPr>
          <a:xfrm>
            <a:off x="4645152" y="21945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txBox="1"/>
          <p:nvPr/>
        </p:nvSpPr>
        <p:spPr>
          <a:xfrm>
            <a:off x="4645152" y="3017520"/>
            <a:ext cx="2880360" cy="457200"/>
          </a:xfrm>
          <a:prstGeom prst="rect">
            <a:avLst/>
          </a:prstGeom>
          <a:noFill/>
          <a:ln/>
        </p:spPr>
        <p:txBody>
          <a:bodyPr wrap="square" lIns="0" tIns="0" rIns="0" bIns="0" rtlCol="0" anchor="t"/>
          <a:lstStyle/>
          <a:p>
            <a:pPr indent="0" marL="0">
              <a:buNone/>
            </a:pPr>
            <a:r>
              <a:rPr lang="en-US" sz="2200" b="1" dirty="0">
                <a:solidFill>
                  <a:srgbClr val="161B22"/>
                </a:solidFill>
                <a:latin typeface="Calibri" pitchFamily="34" charset="0"/>
                <a:ea typeface="Calibri" pitchFamily="34" charset="-122"/>
                <a:cs typeface="Calibri" pitchFamily="34" charset="-120"/>
              </a:rPr>
              <a:t>Company details</a:t>
            </a:r>
            <a:endParaRPr lang="en-US" sz="2200" dirty="0"/>
          </a:p>
        </p:txBody>
      </p:sp>
      <p:sp>
        <p:nvSpPr>
          <p:cNvPr id="13" name="Text 11"/>
          <p:cNvSpPr txBox="1"/>
          <p:nvPr/>
        </p:nvSpPr>
        <p:spPr>
          <a:xfrm>
            <a:off x="4645152" y="3520440"/>
            <a:ext cx="2880360" cy="1005840"/>
          </a:xfrm>
          <a:prstGeom prst="rect">
            <a:avLst/>
          </a:prstGeom>
          <a:noFill/>
          <a:ln/>
        </p:spPr>
        <p:txBody>
          <a:bodyPr wrap="square" lIns="0" tIns="0" rIns="0" bIns="0" rtlCol="0" anchor="t"/>
          <a:lstStyle/>
          <a:p>
            <a:pPr indent="0" marL="0">
              <a:buNone/>
            </a:pPr>
            <a:r>
              <a:rPr lang="en-US" sz="1600" dirty="0">
                <a:solidFill>
                  <a:srgbClr val="57606A"/>
                </a:solidFill>
                <a:latin typeface="Calibri" pitchFamily="34" charset="0"/>
                <a:ea typeface="Calibri" pitchFamily="34" charset="-122"/>
                <a:cs typeface="Calibri" pitchFamily="34" charset="-120"/>
              </a:rPr>
              <a:t>Facts about one company: its market value, and its highest and lowest price this year.</a:t>
            </a:r>
            <a:endParaRPr lang="en-US" sz="1600" dirty="0"/>
          </a:p>
        </p:txBody>
      </p:sp>
      <p:sp>
        <p:nvSpPr>
          <p:cNvPr id="14" name="Shape 12"/>
          <p:cNvSpPr/>
          <p:nvPr/>
        </p:nvSpPr>
        <p:spPr>
          <a:xfrm>
            <a:off x="8101584" y="1874520"/>
            <a:ext cx="3520440" cy="2743200"/>
          </a:xfrm>
          <a:prstGeom prst="roundRect">
            <a:avLst>
              <a:gd name="adj" fmla="val 4000"/>
            </a:avLst>
          </a:prstGeom>
          <a:solidFill>
            <a:srgbClr val="F1F5F9"/>
          </a:solidFill>
          <a:ln w="12700">
            <a:solidFill>
              <a:srgbClr val="F1F5F9"/>
            </a:solidFill>
            <a:prstDash val="solid"/>
          </a:ln>
        </p:spPr>
      </p:sp>
      <p:sp>
        <p:nvSpPr>
          <p:cNvPr id="15" name="Shape 13"/>
          <p:cNvSpPr/>
          <p:nvPr/>
        </p:nvSpPr>
        <p:spPr>
          <a:xfrm>
            <a:off x="8421624" y="2194560"/>
            <a:ext cx="640080" cy="640080"/>
          </a:xfrm>
          <a:prstGeom prst="ellipse">
            <a:avLst/>
          </a:prstGeom>
          <a:solidFill>
            <a:srgbClr val="0891B2"/>
          </a:solidFill>
          <a:ln w="12700">
            <a:solidFill>
              <a:srgbClr val="0891B2"/>
            </a:solidFill>
            <a:prstDash val="solid"/>
          </a:ln>
        </p:spPr>
      </p:sp>
      <p:sp>
        <p:nvSpPr>
          <p:cNvPr id="16" name="Text 14"/>
          <p:cNvSpPr txBox="1"/>
          <p:nvPr/>
        </p:nvSpPr>
        <p:spPr>
          <a:xfrm>
            <a:off x="8421624" y="21945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txBox="1"/>
          <p:nvPr/>
        </p:nvSpPr>
        <p:spPr>
          <a:xfrm>
            <a:off x="8421624" y="3017520"/>
            <a:ext cx="2880360" cy="457200"/>
          </a:xfrm>
          <a:prstGeom prst="rect">
            <a:avLst/>
          </a:prstGeom>
          <a:noFill/>
          <a:ln/>
        </p:spPr>
        <p:txBody>
          <a:bodyPr wrap="square" lIns="0" tIns="0" rIns="0" bIns="0" rtlCol="0" anchor="t"/>
          <a:lstStyle/>
          <a:p>
            <a:pPr indent="0" marL="0">
              <a:buNone/>
            </a:pPr>
            <a:r>
              <a:rPr lang="en-US" sz="2200" b="1" dirty="0">
                <a:solidFill>
                  <a:srgbClr val="161B22"/>
                </a:solidFill>
                <a:latin typeface="Calibri" pitchFamily="34" charset="0"/>
                <a:ea typeface="Calibri" pitchFamily="34" charset="-122"/>
                <a:cs typeface="Calibri" pitchFamily="34" charset="-120"/>
              </a:rPr>
              <a:t>Announcements</a:t>
            </a:r>
            <a:endParaRPr lang="en-US" sz="2200" dirty="0"/>
          </a:p>
        </p:txBody>
      </p:sp>
      <p:sp>
        <p:nvSpPr>
          <p:cNvPr id="18" name="Text 16"/>
          <p:cNvSpPr txBox="1"/>
          <p:nvPr/>
        </p:nvSpPr>
        <p:spPr>
          <a:xfrm>
            <a:off x="8421624" y="3520440"/>
            <a:ext cx="2880360" cy="1005840"/>
          </a:xfrm>
          <a:prstGeom prst="rect">
            <a:avLst/>
          </a:prstGeom>
          <a:noFill/>
          <a:ln/>
        </p:spPr>
        <p:txBody>
          <a:bodyPr wrap="square" lIns="0" tIns="0" rIns="0" bIns="0" rtlCol="0" anchor="t"/>
          <a:lstStyle/>
          <a:p>
            <a:pPr indent="0" marL="0">
              <a:buNone/>
            </a:pPr>
            <a:r>
              <a:rPr lang="en-US" sz="1600" dirty="0">
                <a:solidFill>
                  <a:srgbClr val="57606A"/>
                </a:solidFill>
                <a:latin typeface="Calibri" pitchFamily="34" charset="0"/>
                <a:ea typeface="Calibri" pitchFamily="34" charset="-122"/>
                <a:cs typeface="Calibri" pitchFamily="34" charset="-120"/>
              </a:rPr>
              <a:t>Notices companies publish - many of them as PDF files, and some of those are scans.</a:t>
            </a:r>
            <a:endParaRPr lang="en-US" sz="1600" dirty="0"/>
          </a:p>
        </p:txBody>
      </p:sp>
      <p:sp>
        <p:nvSpPr>
          <p:cNvPr id="19" name="Shape 17"/>
          <p:cNvSpPr/>
          <p:nvPr/>
        </p:nvSpPr>
        <p:spPr>
          <a:xfrm>
            <a:off x="548640" y="4983480"/>
            <a:ext cx="11094415" cy="1051560"/>
          </a:xfrm>
          <a:prstGeom prst="roundRect">
            <a:avLst>
              <a:gd name="adj" fmla="val 10435"/>
            </a:avLst>
          </a:prstGeom>
          <a:solidFill>
            <a:srgbClr val="E0F2F7"/>
          </a:solidFill>
          <a:ln w="12700">
            <a:solidFill>
              <a:srgbClr val="E0F2F7"/>
            </a:solidFill>
            <a:prstDash val="solid"/>
          </a:ln>
        </p:spPr>
      </p:sp>
      <p:sp>
        <p:nvSpPr>
          <p:cNvPr id="20" name="Text 18"/>
          <p:cNvSpPr txBox="1"/>
          <p:nvPr/>
        </p:nvSpPr>
        <p:spPr>
          <a:xfrm>
            <a:off x="868680" y="4983480"/>
            <a:ext cx="10454335" cy="1051560"/>
          </a:xfrm>
          <a:prstGeom prst="rect">
            <a:avLst/>
          </a:prstGeom>
          <a:noFill/>
          <a:ln/>
        </p:spPr>
        <p:txBody>
          <a:bodyPr wrap="square" lIns="0" tIns="0" rIns="0" bIns="0" rtlCol="0" anchor="ctr"/>
          <a:lstStyle/>
          <a:p>
            <a:pPr indent="0" marL="0">
              <a:buNone/>
            </a:pPr>
            <a:r>
              <a:rPr lang="en-US" sz="1800" b="1" dirty="0">
                <a:solidFill>
                  <a:srgbClr val="161B22"/>
                </a:solidFill>
                <a:latin typeface="Calibri" pitchFamily="34" charset="0"/>
                <a:ea typeface="Calibri" pitchFamily="34" charset="-122"/>
                <a:cs typeface="Calibri" pitchFamily="34" charset="-120"/>
              </a:rPr>
              <a:t>Then we clean it, check it, chart it and save it</a:t>
            </a:r>
            <a:pPr indent="0" marL="0">
              <a:buNone/>
            </a:pPr>
            <a:r>
              <a:rPr lang="en-US" sz="1800" dirty="0">
                <a:solidFill>
                  <a:srgbClr val="161B22"/>
                </a:solidFill>
                <a:latin typeface="Calibri" pitchFamily="34" charset="0"/>
                <a:ea typeface="Calibri" pitchFamily="34" charset="-122"/>
                <a:cs typeface="Calibri" pitchFamily="34" charset="-120"/>
              </a:rPr>
              <a:t> - in an app with a tab for every step, labelled with the member who built it.</a:t>
            </a:r>
            <a:endParaRPr lang="en-US" sz="1800" dirty="0"/>
          </a:p>
        </p:txBody>
      </p:sp>
      <p:sp>
        <p:nvSpPr>
          <p:cNvPr id="21" name="Text 19"/>
          <p:cNvSpPr txBox="1"/>
          <p:nvPr/>
        </p:nvSpPr>
        <p:spPr>
          <a:xfrm>
            <a:off x="11185855" y="6400800"/>
            <a:ext cx="457200" cy="274320"/>
          </a:xfrm>
          <a:prstGeom prst="rect">
            <a:avLst/>
          </a:prstGeom>
          <a:noFill/>
          <a:ln/>
        </p:spPr>
        <p:txBody>
          <a:bodyPr wrap="square" lIns="0" tIns="0" rIns="0" bIns="0" rtlCol="0" anchor="t"/>
          <a:lstStyle/>
          <a:p>
            <a:pPr algn="r" indent="0" marL="0">
              <a:buNone/>
            </a:pPr>
            <a:r>
              <a:rPr lang="en-US" sz="1100" dirty="0">
                <a:solidFill>
                  <a:srgbClr val="57606A"/>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600" b="1" dirty="0">
                <a:solidFill>
                  <a:srgbClr val="161B22"/>
                </a:solidFill>
                <a:latin typeface="Calibri" pitchFamily="34" charset="0"/>
                <a:ea typeface="Calibri" pitchFamily="34" charset="-122"/>
                <a:cs typeface="Calibri" pitchFamily="34" charset="-120"/>
              </a:rPr>
              <a:t>The surprise: the page is built by JavaScript</a:t>
            </a:r>
            <a:endParaRPr lang="en-US" sz="3600" dirty="0"/>
          </a:p>
        </p:txBody>
      </p:sp>
      <p:sp>
        <p:nvSpPr>
          <p:cNvPr id="3" name="Text 1"/>
          <p:cNvSpPr txBox="1"/>
          <p:nvPr/>
        </p:nvSpPr>
        <p:spPr>
          <a:xfrm>
            <a:off x="548640" y="1143000"/>
            <a:ext cx="11094415" cy="411480"/>
          </a:xfrm>
          <a:prstGeom prst="rect">
            <a:avLst/>
          </a:prstGeom>
          <a:noFill/>
          <a:ln/>
        </p:spPr>
        <p:txBody>
          <a:bodyPr wrap="square" lIns="0" tIns="0" rIns="0" bIns="0" rtlCol="0" anchor="t"/>
          <a:lstStyle/>
          <a:p>
            <a:pPr indent="0" marL="0">
              <a:buNone/>
            </a:pPr>
            <a:r>
              <a:rPr lang="en-US" sz="1800" dirty="0">
                <a:solidFill>
                  <a:srgbClr val="57606A"/>
                </a:solidFill>
                <a:latin typeface="Calibri" pitchFamily="34" charset="0"/>
                <a:ea typeface="Calibri" pitchFamily="34" charset="-122"/>
                <a:cs typeface="Calibri" pitchFamily="34" charset="-120"/>
              </a:rPr>
              <a:t>The page arrives almost empty. JavaScript in the browser fills in the prices afterwards.</a:t>
            </a:r>
            <a:endParaRPr lang="en-US" sz="1800" dirty="0"/>
          </a:p>
        </p:txBody>
      </p:sp>
      <p:sp>
        <p:nvSpPr>
          <p:cNvPr id="4" name="Shape 2"/>
          <p:cNvSpPr/>
          <p:nvPr/>
        </p:nvSpPr>
        <p:spPr>
          <a:xfrm>
            <a:off x="548640" y="1828800"/>
            <a:ext cx="4206240" cy="4206240"/>
          </a:xfrm>
          <a:prstGeom prst="roundRect">
            <a:avLst>
              <a:gd name="adj" fmla="val 2609"/>
            </a:avLst>
          </a:prstGeom>
          <a:solidFill>
            <a:srgbClr val="F1F5F9"/>
          </a:solidFill>
          <a:ln w="12700">
            <a:solidFill>
              <a:srgbClr val="F1F5F9"/>
            </a:solidFill>
            <a:prstDash val="solid"/>
          </a:ln>
        </p:spPr>
      </p:sp>
      <p:sp>
        <p:nvSpPr>
          <p:cNvPr id="5" name="Text 3"/>
          <p:cNvSpPr txBox="1"/>
          <p:nvPr/>
        </p:nvSpPr>
        <p:spPr>
          <a:xfrm>
            <a:off x="868680" y="2057400"/>
            <a:ext cx="3657600" cy="411480"/>
          </a:xfrm>
          <a:prstGeom prst="rect">
            <a:avLst/>
          </a:prstGeom>
          <a:noFill/>
          <a:ln/>
        </p:spPr>
        <p:txBody>
          <a:bodyPr wrap="square" lIns="0" tIns="0" rIns="0" bIns="0" rtlCol="0" anchor="t"/>
          <a:lstStyle/>
          <a:p>
            <a:pPr indent="0" marL="0">
              <a:buNone/>
            </a:pPr>
            <a:r>
              <a:rPr lang="en-US" sz="2000" b="1" dirty="0">
                <a:solidFill>
                  <a:srgbClr val="161B22"/>
                </a:solidFill>
                <a:latin typeface="Calibri" pitchFamily="34" charset="0"/>
                <a:ea typeface="Calibri" pitchFamily="34" charset="-122"/>
                <a:cs typeface="Calibri" pitchFamily="34" charset="-120"/>
              </a:rPr>
              <a:t>A plain download</a:t>
            </a:r>
            <a:endParaRPr lang="en-US" sz="2000" dirty="0"/>
          </a:p>
        </p:txBody>
      </p:sp>
      <p:sp>
        <p:nvSpPr>
          <p:cNvPr id="6" name="Text 4"/>
          <p:cNvSpPr txBox="1"/>
          <p:nvPr/>
        </p:nvSpPr>
        <p:spPr>
          <a:xfrm>
            <a:off x="868680" y="2468880"/>
            <a:ext cx="3657600" cy="36576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requests + BeautifulSoup</a:t>
            </a:r>
            <a:endParaRPr lang="en-US" sz="1500" dirty="0"/>
          </a:p>
        </p:txBody>
      </p:sp>
      <p:sp>
        <p:nvSpPr>
          <p:cNvPr id="7" name="Text 5"/>
          <p:cNvSpPr txBox="1"/>
          <p:nvPr/>
        </p:nvSpPr>
        <p:spPr>
          <a:xfrm>
            <a:off x="868680" y="2971800"/>
            <a:ext cx="3657600" cy="1097280"/>
          </a:xfrm>
          <a:prstGeom prst="rect">
            <a:avLst/>
          </a:prstGeom>
          <a:noFill/>
          <a:ln/>
        </p:spPr>
        <p:txBody>
          <a:bodyPr wrap="square" lIns="0" tIns="0" rIns="0" bIns="0" rtlCol="0" anchor="t"/>
          <a:lstStyle/>
          <a:p>
            <a:pPr indent="0" marL="0">
              <a:buNone/>
            </a:pPr>
            <a:r>
              <a:rPr lang="en-US" sz="8000" b="1" dirty="0">
                <a:solidFill>
                  <a:srgbClr val="DC2626"/>
                </a:solidFill>
                <a:latin typeface="Calibri" pitchFamily="34" charset="0"/>
                <a:ea typeface="Calibri" pitchFamily="34" charset="-122"/>
                <a:cs typeface="Calibri" pitchFamily="34" charset="-120"/>
              </a:rPr>
              <a:t>24</a:t>
            </a:r>
            <a:endParaRPr lang="en-US" sz="8000" dirty="0"/>
          </a:p>
        </p:txBody>
      </p:sp>
      <p:sp>
        <p:nvSpPr>
          <p:cNvPr id="8" name="Text 6"/>
          <p:cNvSpPr txBox="1"/>
          <p:nvPr/>
        </p:nvSpPr>
        <p:spPr>
          <a:xfrm>
            <a:off x="868680" y="4069080"/>
            <a:ext cx="3657600" cy="411480"/>
          </a:xfrm>
          <a:prstGeom prst="rect">
            <a:avLst/>
          </a:prstGeom>
          <a:noFill/>
          <a:ln/>
        </p:spPr>
        <p:txBody>
          <a:bodyPr wrap="square" lIns="0" tIns="0" rIns="0" bIns="0" rtlCol="0" anchor="t"/>
          <a:lstStyle/>
          <a:p>
            <a:pPr indent="0" marL="0">
              <a:buNone/>
            </a:pPr>
            <a:r>
              <a:rPr lang="en-US" sz="1800" b="1" dirty="0">
                <a:solidFill>
                  <a:srgbClr val="161B22"/>
                </a:solidFill>
                <a:latin typeface="Calibri" pitchFamily="34" charset="0"/>
                <a:ea typeface="Calibri" pitchFamily="34" charset="-122"/>
                <a:cs typeface="Calibri" pitchFamily="34" charset="-120"/>
              </a:rPr>
              <a:t>characters of text</a:t>
            </a:r>
            <a:endParaRPr lang="en-US" sz="1800" dirty="0"/>
          </a:p>
        </p:txBody>
      </p:sp>
      <p:sp>
        <p:nvSpPr>
          <p:cNvPr id="9" name="Text 7"/>
          <p:cNvSpPr txBox="1"/>
          <p:nvPr/>
        </p:nvSpPr>
        <p:spPr>
          <a:xfrm>
            <a:off x="868680" y="4572000"/>
            <a:ext cx="3566160" cy="118872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0 tables, out of 17,898 bytes of HTML. The prices are simply not in the file.</a:t>
            </a:r>
            <a:endParaRPr lang="en-US" sz="1500" dirty="0"/>
          </a:p>
        </p:txBody>
      </p:sp>
      <p:sp>
        <p:nvSpPr>
          <p:cNvPr id="10" name="Text 8"/>
          <p:cNvSpPr txBox="1"/>
          <p:nvPr/>
        </p:nvSpPr>
        <p:spPr>
          <a:xfrm>
            <a:off x="5074920" y="1828800"/>
            <a:ext cx="6583680" cy="411480"/>
          </a:xfrm>
          <a:prstGeom prst="rect">
            <a:avLst/>
          </a:prstGeom>
          <a:noFill/>
          <a:ln/>
        </p:spPr>
        <p:txBody>
          <a:bodyPr wrap="square" lIns="0" tIns="0" rIns="0" bIns="0" rtlCol="0" anchor="t"/>
          <a:lstStyle/>
          <a:p>
            <a:pPr indent="0" marL="0">
              <a:buNone/>
            </a:pPr>
            <a:r>
              <a:rPr lang="en-US" sz="2000" b="1" dirty="0">
                <a:solidFill>
                  <a:srgbClr val="161B22"/>
                </a:solidFill>
                <a:latin typeface="Calibri" pitchFamily="34" charset="0"/>
                <a:ea typeface="Calibri" pitchFamily="34" charset="-122"/>
                <a:cs typeface="Calibri" pitchFamily="34" charset="-120"/>
              </a:rPr>
              <a:t>A real browser</a:t>
            </a:r>
            <a:endParaRPr lang="en-US" sz="2000" dirty="0"/>
          </a:p>
        </p:txBody>
      </p:sp>
      <p:sp>
        <p:nvSpPr>
          <p:cNvPr id="11" name="Text 9"/>
          <p:cNvSpPr txBox="1"/>
          <p:nvPr/>
        </p:nvSpPr>
        <p:spPr>
          <a:xfrm>
            <a:off x="5074920" y="2240280"/>
            <a:ext cx="6583680" cy="36576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Selenium driving Microsoft Edge</a:t>
            </a:r>
            <a:endParaRPr lang="en-US" sz="1500" dirty="0"/>
          </a:p>
        </p:txBody>
      </p:sp>
      <p:pic>
        <p:nvPicPr>
          <p:cNvPr id="12" name="Image 0" descr="D:/DA2009/CSE-Scraping-Project/guide_content/images/selenium_page.png">    </p:cNvPr>
          <p:cNvPicPr>
            <a:picLocks noChangeAspect="1"/>
          </p:cNvPicPr>
          <p:nvPr/>
        </p:nvPicPr>
        <p:blipFill>
          <a:blip r:embed="rId1"/>
          <a:stretch>
            <a:fillRect/>
          </a:stretch>
        </p:blipFill>
        <p:spPr>
          <a:xfrm>
            <a:off x="5074920" y="2697480"/>
            <a:ext cx="6537960" cy="3243118"/>
          </a:xfrm>
          <a:prstGeom prst="rect">
            <a:avLst/>
          </a:prstGeom>
        </p:spPr>
      </p:pic>
      <p:sp>
        <p:nvSpPr>
          <p:cNvPr id="13" name="Shape 10"/>
          <p:cNvSpPr/>
          <p:nvPr/>
        </p:nvSpPr>
        <p:spPr>
          <a:xfrm>
            <a:off x="5074920" y="2697480"/>
            <a:ext cx="6537960" cy="3243118"/>
          </a:xfrm>
          <a:prstGeom prst="rect">
            <a:avLst/>
          </a:prstGeom>
          <a:ln w="12700">
            <a:solidFill>
              <a:srgbClr val="D0D7DE"/>
            </a:solidFill>
            <a:prstDash val="solid"/>
          </a:ln>
        </p:spPr>
      </p:sp>
      <p:sp>
        <p:nvSpPr>
          <p:cNvPr id="14" name="Text 11"/>
          <p:cNvSpPr txBox="1"/>
          <p:nvPr/>
        </p:nvSpPr>
        <p:spPr>
          <a:xfrm>
            <a:off x="5074920" y="6077758"/>
            <a:ext cx="6537960" cy="365760"/>
          </a:xfrm>
          <a:prstGeom prst="rect">
            <a:avLst/>
          </a:prstGeom>
          <a:noFill/>
          <a:ln/>
        </p:spPr>
        <p:txBody>
          <a:bodyPr wrap="square" lIns="0" tIns="0" rIns="0" bIns="0" rtlCol="0" anchor="t"/>
          <a:lstStyle/>
          <a:p>
            <a:pPr indent="0" marL="0">
              <a:buNone/>
            </a:pPr>
            <a:r>
              <a:rPr lang="en-US" sz="1500" b="1" dirty="0">
                <a:solidFill>
                  <a:srgbClr val="047857"/>
                </a:solidFill>
                <a:latin typeface="Calibri" pitchFamily="34" charset="0"/>
                <a:ea typeface="Calibri" pitchFamily="34" charset="-122"/>
                <a:cs typeface="Calibri" pitchFamily="34" charset="-120"/>
              </a:rPr>
              <a:t>4,121 characters and 1 table</a:t>
            </a:r>
            <a:pPr indent="0" marL="0">
              <a:buNone/>
            </a:pPr>
            <a:r>
              <a:rPr lang="en-US" sz="1500" dirty="0">
                <a:solidFill>
                  <a:srgbClr val="57606A"/>
                </a:solidFill>
                <a:latin typeface="Calibri" pitchFamily="34" charset="0"/>
                <a:ea typeface="Calibri" pitchFamily="34" charset="-122"/>
                <a:cs typeface="Calibri" pitchFamily="34" charset="-120"/>
              </a:rPr>
              <a:t> - but only after waiting 5.3 seconds for one page</a:t>
            </a:r>
            <a:endParaRPr lang="en-US" sz="1500" dirty="0"/>
          </a:p>
        </p:txBody>
      </p:sp>
      <p:sp>
        <p:nvSpPr>
          <p:cNvPr id="15" name="Text 12"/>
          <p:cNvSpPr txBox="1"/>
          <p:nvPr/>
        </p:nvSpPr>
        <p:spPr>
          <a:xfrm>
            <a:off x="11185855" y="6400800"/>
            <a:ext cx="457200" cy="274320"/>
          </a:xfrm>
          <a:prstGeom prst="rect">
            <a:avLst/>
          </a:prstGeom>
          <a:noFill/>
          <a:ln/>
        </p:spPr>
        <p:txBody>
          <a:bodyPr wrap="square" lIns="0" tIns="0" rIns="0" bIns="0" rtlCol="0" anchor="t"/>
          <a:lstStyle/>
          <a:p>
            <a:pPr algn="r" indent="0" marL="0">
              <a:buNone/>
            </a:pPr>
            <a:r>
              <a:rPr lang="en-US" sz="1100" dirty="0">
                <a:solidFill>
                  <a:srgbClr val="57606A"/>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600" b="1" dirty="0">
                <a:solidFill>
                  <a:srgbClr val="161B22"/>
                </a:solidFill>
                <a:latin typeface="Calibri" pitchFamily="34" charset="0"/>
                <a:ea typeface="Calibri" pitchFamily="34" charset="-122"/>
                <a:cs typeface="Calibri" pitchFamily="34" charset="-120"/>
              </a:rPr>
              <a:t>The answer: read the data the page itself uses</a:t>
            </a:r>
            <a:endParaRPr lang="en-US" sz="3600" dirty="0"/>
          </a:p>
        </p:txBody>
      </p:sp>
      <p:sp>
        <p:nvSpPr>
          <p:cNvPr id="3" name="Text 1"/>
          <p:cNvSpPr txBox="1"/>
          <p:nvPr/>
        </p:nvSpPr>
        <p:spPr>
          <a:xfrm>
            <a:off x="548640" y="1143000"/>
            <a:ext cx="11094415" cy="411480"/>
          </a:xfrm>
          <a:prstGeom prst="rect">
            <a:avLst/>
          </a:prstGeom>
          <a:noFill/>
          <a:ln/>
        </p:spPr>
        <p:txBody>
          <a:bodyPr wrap="square" lIns="0" tIns="0" rIns="0" bIns="0" rtlCol="0" anchor="t"/>
          <a:lstStyle/>
          <a:p>
            <a:pPr indent="0" marL="0">
              <a:buNone/>
            </a:pPr>
            <a:r>
              <a:rPr lang="en-US" sz="1800" dirty="0">
                <a:solidFill>
                  <a:srgbClr val="57606A"/>
                </a:solidFill>
                <a:latin typeface="Calibri" pitchFamily="34" charset="0"/>
                <a:ea typeface="Calibri" pitchFamily="34" charset="-122"/>
                <a:cs typeface="Calibri" pitchFamily="34" charset="-120"/>
              </a:rPr>
              <a:t>Found with the browser's developer tools - no guessing</a:t>
            </a:r>
            <a:endParaRPr lang="en-US" sz="1800" dirty="0"/>
          </a:p>
        </p:txBody>
      </p:sp>
      <p:sp>
        <p:nvSpPr>
          <p:cNvPr id="4" name="Shape 2"/>
          <p:cNvSpPr/>
          <p:nvPr/>
        </p:nvSpPr>
        <p:spPr>
          <a:xfrm>
            <a:off x="548640" y="1828800"/>
            <a:ext cx="640080" cy="640080"/>
          </a:xfrm>
          <a:prstGeom prst="ellipse">
            <a:avLst/>
          </a:prstGeom>
          <a:solidFill>
            <a:srgbClr val="0891B2"/>
          </a:solidFill>
          <a:ln w="12700">
            <a:solidFill>
              <a:srgbClr val="0891B2"/>
            </a:solidFill>
            <a:prstDash val="solid"/>
          </a:ln>
        </p:spPr>
      </p:sp>
      <p:sp>
        <p:nvSpPr>
          <p:cNvPr id="5" name="Text 3"/>
          <p:cNvSpPr txBox="1"/>
          <p:nvPr/>
        </p:nvSpPr>
        <p:spPr>
          <a:xfrm>
            <a:off x="548640" y="1828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Shape 4"/>
          <p:cNvSpPr/>
          <p:nvPr/>
        </p:nvSpPr>
        <p:spPr>
          <a:xfrm>
            <a:off x="1325880" y="2148840"/>
            <a:ext cx="1938528" cy="0"/>
          </a:xfrm>
          <a:prstGeom prst="line">
            <a:avLst/>
          </a:prstGeom>
          <a:noFill/>
          <a:ln w="25400">
            <a:solidFill>
              <a:srgbClr val="D0D7DE"/>
            </a:solidFill>
            <a:prstDash val="solid"/>
            <a:tailEnd type="triangle"/>
          </a:ln>
        </p:spPr>
      </p:sp>
      <p:sp>
        <p:nvSpPr>
          <p:cNvPr id="7" name="Text 5"/>
          <p:cNvSpPr txBox="1"/>
          <p:nvPr/>
        </p:nvSpPr>
        <p:spPr>
          <a:xfrm>
            <a:off x="548640" y="2651760"/>
            <a:ext cx="2514600" cy="411480"/>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Open the site</a:t>
            </a:r>
            <a:endParaRPr lang="en-US" sz="1900" dirty="0"/>
          </a:p>
        </p:txBody>
      </p:sp>
      <p:sp>
        <p:nvSpPr>
          <p:cNvPr id="8" name="Text 6"/>
          <p:cNvSpPr txBox="1"/>
          <p:nvPr/>
        </p:nvSpPr>
        <p:spPr>
          <a:xfrm>
            <a:off x="548640" y="3063240"/>
            <a:ext cx="2514600" cy="73152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Press F12 and choose the Network tab</a:t>
            </a:r>
            <a:endParaRPr lang="en-US" sz="1500" dirty="0"/>
          </a:p>
        </p:txBody>
      </p:sp>
      <p:sp>
        <p:nvSpPr>
          <p:cNvPr id="9" name="Shape 7"/>
          <p:cNvSpPr/>
          <p:nvPr/>
        </p:nvSpPr>
        <p:spPr>
          <a:xfrm>
            <a:off x="3401568" y="1828800"/>
            <a:ext cx="640080" cy="640080"/>
          </a:xfrm>
          <a:prstGeom prst="ellipse">
            <a:avLst/>
          </a:prstGeom>
          <a:solidFill>
            <a:srgbClr val="0891B2"/>
          </a:solidFill>
          <a:ln w="12700">
            <a:solidFill>
              <a:srgbClr val="0891B2"/>
            </a:solidFill>
            <a:prstDash val="solid"/>
          </a:ln>
        </p:spPr>
      </p:sp>
      <p:sp>
        <p:nvSpPr>
          <p:cNvPr id="10" name="Text 8"/>
          <p:cNvSpPr txBox="1"/>
          <p:nvPr/>
        </p:nvSpPr>
        <p:spPr>
          <a:xfrm>
            <a:off x="3401568" y="1828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Shape 9"/>
          <p:cNvSpPr/>
          <p:nvPr/>
        </p:nvSpPr>
        <p:spPr>
          <a:xfrm>
            <a:off x="4178808" y="2148840"/>
            <a:ext cx="1938528" cy="0"/>
          </a:xfrm>
          <a:prstGeom prst="line">
            <a:avLst/>
          </a:prstGeom>
          <a:noFill/>
          <a:ln w="25400">
            <a:solidFill>
              <a:srgbClr val="D0D7DE"/>
            </a:solidFill>
            <a:prstDash val="solid"/>
            <a:tailEnd type="triangle"/>
          </a:ln>
        </p:spPr>
      </p:sp>
      <p:sp>
        <p:nvSpPr>
          <p:cNvPr id="12" name="Text 10"/>
          <p:cNvSpPr txBox="1"/>
          <p:nvPr/>
        </p:nvSpPr>
        <p:spPr>
          <a:xfrm>
            <a:off x="3401568" y="2651760"/>
            <a:ext cx="2514600" cy="411480"/>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Watch the requests</a:t>
            </a:r>
            <a:endParaRPr lang="en-US" sz="1900" dirty="0"/>
          </a:p>
        </p:txBody>
      </p:sp>
      <p:sp>
        <p:nvSpPr>
          <p:cNvPr id="13" name="Text 11"/>
          <p:cNvSpPr txBox="1"/>
          <p:nvPr/>
        </p:nvSpPr>
        <p:spPr>
          <a:xfrm>
            <a:off x="3401568" y="3063240"/>
            <a:ext cx="2514600" cy="73152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The page asks /api/tradeSummary for its prices</a:t>
            </a:r>
            <a:endParaRPr lang="en-US" sz="1500" dirty="0"/>
          </a:p>
        </p:txBody>
      </p:sp>
      <p:sp>
        <p:nvSpPr>
          <p:cNvPr id="14" name="Shape 12"/>
          <p:cNvSpPr/>
          <p:nvPr/>
        </p:nvSpPr>
        <p:spPr>
          <a:xfrm>
            <a:off x="6254496" y="1828800"/>
            <a:ext cx="640080" cy="640080"/>
          </a:xfrm>
          <a:prstGeom prst="ellipse">
            <a:avLst/>
          </a:prstGeom>
          <a:solidFill>
            <a:srgbClr val="0891B2"/>
          </a:solidFill>
          <a:ln w="12700">
            <a:solidFill>
              <a:srgbClr val="0891B2"/>
            </a:solidFill>
            <a:prstDash val="solid"/>
          </a:ln>
        </p:spPr>
      </p:sp>
      <p:sp>
        <p:nvSpPr>
          <p:cNvPr id="15" name="Text 13"/>
          <p:cNvSpPr txBox="1"/>
          <p:nvPr/>
        </p:nvSpPr>
        <p:spPr>
          <a:xfrm>
            <a:off x="6254496" y="1828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6" name="Shape 14"/>
          <p:cNvSpPr/>
          <p:nvPr/>
        </p:nvSpPr>
        <p:spPr>
          <a:xfrm>
            <a:off x="7031736" y="2148840"/>
            <a:ext cx="1938528" cy="0"/>
          </a:xfrm>
          <a:prstGeom prst="line">
            <a:avLst/>
          </a:prstGeom>
          <a:noFill/>
          <a:ln w="25400">
            <a:solidFill>
              <a:srgbClr val="D0D7DE"/>
            </a:solidFill>
            <a:prstDash val="solid"/>
            <a:tailEnd type="triangle"/>
          </a:ln>
        </p:spPr>
      </p:sp>
      <p:sp>
        <p:nvSpPr>
          <p:cNvPr id="17" name="Text 15"/>
          <p:cNvSpPr txBox="1"/>
          <p:nvPr/>
        </p:nvSpPr>
        <p:spPr>
          <a:xfrm>
            <a:off x="6254496" y="2651760"/>
            <a:ext cx="2514600" cy="411480"/>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It answers in JSON</a:t>
            </a:r>
            <a:endParaRPr lang="en-US" sz="1900" dirty="0"/>
          </a:p>
        </p:txBody>
      </p:sp>
      <p:sp>
        <p:nvSpPr>
          <p:cNvPr id="18" name="Text 16"/>
          <p:cNvSpPr txBox="1"/>
          <p:nvPr/>
        </p:nvSpPr>
        <p:spPr>
          <a:xfrm>
            <a:off x="6254496" y="3063240"/>
            <a:ext cx="2514600" cy="73152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Tidy names and values - no HTML to dig through</a:t>
            </a:r>
            <a:endParaRPr lang="en-US" sz="1500" dirty="0"/>
          </a:p>
        </p:txBody>
      </p:sp>
      <p:sp>
        <p:nvSpPr>
          <p:cNvPr id="19" name="Shape 17"/>
          <p:cNvSpPr/>
          <p:nvPr/>
        </p:nvSpPr>
        <p:spPr>
          <a:xfrm>
            <a:off x="9107424" y="1828800"/>
            <a:ext cx="640080" cy="640080"/>
          </a:xfrm>
          <a:prstGeom prst="ellipse">
            <a:avLst/>
          </a:prstGeom>
          <a:solidFill>
            <a:srgbClr val="0891B2"/>
          </a:solidFill>
          <a:ln w="12700">
            <a:solidFill>
              <a:srgbClr val="0891B2"/>
            </a:solidFill>
            <a:prstDash val="solid"/>
          </a:ln>
        </p:spPr>
      </p:sp>
      <p:sp>
        <p:nvSpPr>
          <p:cNvPr id="20" name="Text 18"/>
          <p:cNvSpPr txBox="1"/>
          <p:nvPr/>
        </p:nvSpPr>
        <p:spPr>
          <a:xfrm>
            <a:off x="9107424" y="1828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1" name="Text 19"/>
          <p:cNvSpPr txBox="1"/>
          <p:nvPr/>
        </p:nvSpPr>
        <p:spPr>
          <a:xfrm>
            <a:off x="9107424" y="2651760"/>
            <a:ext cx="2514600" cy="411480"/>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pandas makes a table</a:t>
            </a:r>
            <a:endParaRPr lang="en-US" sz="1900" dirty="0"/>
          </a:p>
        </p:txBody>
      </p:sp>
      <p:sp>
        <p:nvSpPr>
          <p:cNvPr id="22" name="Text 20"/>
          <p:cNvSpPr txBox="1"/>
          <p:nvPr/>
        </p:nvSpPr>
        <p:spPr>
          <a:xfrm>
            <a:off x="9107424" y="3063240"/>
            <a:ext cx="2514600" cy="73152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One row per company, ready to use</a:t>
            </a:r>
            <a:endParaRPr lang="en-US" sz="1500" dirty="0"/>
          </a:p>
        </p:txBody>
      </p:sp>
      <p:sp>
        <p:nvSpPr>
          <p:cNvPr id="23" name="Shape 21"/>
          <p:cNvSpPr/>
          <p:nvPr/>
        </p:nvSpPr>
        <p:spPr>
          <a:xfrm>
            <a:off x="548640" y="4160520"/>
            <a:ext cx="6035040" cy="1965960"/>
          </a:xfrm>
          <a:prstGeom prst="roundRect">
            <a:avLst>
              <a:gd name="adj" fmla="val 5581"/>
            </a:avLst>
          </a:prstGeom>
          <a:solidFill>
            <a:srgbClr val="F1F5F9"/>
          </a:solidFill>
          <a:ln w="12700">
            <a:solidFill>
              <a:srgbClr val="F1F5F9"/>
            </a:solidFill>
            <a:prstDash val="solid"/>
          </a:ln>
        </p:spPr>
      </p:sp>
      <p:sp>
        <p:nvSpPr>
          <p:cNvPr id="24" name="Text 22"/>
          <p:cNvSpPr txBox="1"/>
          <p:nvPr/>
        </p:nvSpPr>
        <p:spPr>
          <a:xfrm>
            <a:off x="822960" y="4297680"/>
            <a:ext cx="5486400" cy="320040"/>
          </a:xfrm>
          <a:prstGeom prst="rect">
            <a:avLst/>
          </a:prstGeom>
          <a:noFill/>
          <a:ln/>
        </p:spPr>
        <p:txBody>
          <a:bodyPr wrap="square" lIns="0" tIns="0" rIns="0" bIns="0" rtlCol="0" anchor="t"/>
          <a:lstStyle/>
          <a:p>
            <a:pPr indent="0" marL="0">
              <a:buNone/>
            </a:pPr>
            <a:r>
              <a:rPr lang="en-US" sz="1400" b="1" dirty="0">
                <a:solidFill>
                  <a:srgbClr val="57606A"/>
                </a:solidFill>
                <a:latin typeface="Calibri" pitchFamily="34" charset="0"/>
                <a:ea typeface="Calibri" pitchFamily="34" charset="-122"/>
                <a:cs typeface="Calibri" pitchFamily="34" charset="-120"/>
              </a:rPr>
              <a:t>One company, as CSE sends it</a:t>
            </a:r>
            <a:endParaRPr lang="en-US" sz="1400" dirty="0"/>
          </a:p>
        </p:txBody>
      </p:sp>
      <p:sp>
        <p:nvSpPr>
          <p:cNvPr id="25" name="Text 23"/>
          <p:cNvSpPr txBox="1"/>
          <p:nvPr/>
        </p:nvSpPr>
        <p:spPr>
          <a:xfrm>
            <a:off x="822960" y="4617720"/>
            <a:ext cx="5486400" cy="1417320"/>
          </a:xfrm>
          <a:prstGeom prst="rect">
            <a:avLst/>
          </a:prstGeom>
          <a:noFill/>
          <a:ln/>
        </p:spPr>
        <p:txBody>
          <a:bodyPr wrap="square" lIns="0" tIns="0" rIns="0" bIns="0" rtlCol="0" anchor="t"/>
          <a:lstStyle/>
          <a:p>
            <a:pPr indent="0" marL="0">
              <a:buNone/>
            </a:pPr>
            <a:r>
              <a:rPr lang="en-US" sz="1500" dirty="0">
                <a:solidFill>
                  <a:srgbClr val="161B22"/>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161B22"/>
                </a:solidFill>
                <a:latin typeface="Courier New" pitchFamily="34" charset="0"/>
                <a:ea typeface="Courier New" pitchFamily="34" charset="-122"/>
                <a:cs typeface="Courier New" pitchFamily="34" charset="-120"/>
              </a:rPr>
              <a:t>  "symbol": "SAMP.N0000",</a:t>
            </a:r>
            <a:endParaRPr lang="en-US" sz="1500" dirty="0"/>
          </a:p>
          <a:p>
            <a:pPr indent="0" marL="0">
              <a:buNone/>
            </a:pPr>
            <a:r>
              <a:rPr lang="en-US" sz="1500" dirty="0">
                <a:solidFill>
                  <a:srgbClr val="161B22"/>
                </a:solidFill>
                <a:latin typeface="Courier New" pitchFamily="34" charset="0"/>
                <a:ea typeface="Courier New" pitchFamily="34" charset="-122"/>
                <a:cs typeface="Courier New" pitchFamily="34" charset="-120"/>
              </a:rPr>
              <a:t>  "name": "SAMPATH BANK PLC",</a:t>
            </a:r>
            <a:endParaRPr lang="en-US" sz="1500" dirty="0"/>
          </a:p>
          <a:p>
            <a:pPr indent="0" marL="0">
              <a:buNone/>
            </a:pPr>
            <a:r>
              <a:rPr lang="en-US" sz="1500" dirty="0">
                <a:solidFill>
                  <a:srgbClr val="161B22"/>
                </a:solidFill>
                <a:latin typeface="Courier New" pitchFamily="34" charset="0"/>
                <a:ea typeface="Courier New" pitchFamily="34" charset="-122"/>
                <a:cs typeface="Courier New" pitchFamily="34" charset="-120"/>
              </a:rPr>
              <a:t>  "price": 141.0,  "change": 1.0</a:t>
            </a:r>
            <a:endParaRPr lang="en-US" sz="1500" dirty="0"/>
          </a:p>
          <a:p>
            <a:pPr indent="0" marL="0">
              <a:buNone/>
            </a:pPr>
            <a:r>
              <a:rPr lang="en-US" sz="1500" dirty="0">
                <a:solidFill>
                  <a:srgbClr val="161B22"/>
                </a:solidFill>
                <a:latin typeface="Courier New" pitchFamily="34" charset="0"/>
                <a:ea typeface="Courier New" pitchFamily="34" charset="-122"/>
                <a:cs typeface="Courier New" pitchFamily="34" charset="-120"/>
              </a:rPr>
              <a:t>}</a:t>
            </a:r>
            <a:endParaRPr lang="en-US" sz="1500" dirty="0"/>
          </a:p>
        </p:txBody>
      </p:sp>
      <p:sp>
        <p:nvSpPr>
          <p:cNvPr id="26" name="Text 24"/>
          <p:cNvSpPr txBox="1"/>
          <p:nvPr/>
        </p:nvSpPr>
        <p:spPr>
          <a:xfrm>
            <a:off x="7086600" y="4069080"/>
            <a:ext cx="4572000" cy="1188720"/>
          </a:xfrm>
          <a:prstGeom prst="rect">
            <a:avLst/>
          </a:prstGeom>
          <a:noFill/>
          <a:ln/>
        </p:spPr>
        <p:txBody>
          <a:bodyPr wrap="square" lIns="0" tIns="0" rIns="0" bIns="0" rtlCol="0" anchor="t"/>
          <a:lstStyle/>
          <a:p>
            <a:pPr indent="0" marL="0">
              <a:buNone/>
            </a:pPr>
            <a:r>
              <a:rPr lang="en-US" sz="8800" b="1" dirty="0">
                <a:solidFill>
                  <a:srgbClr val="0891B2"/>
                </a:solidFill>
                <a:latin typeface="Calibri" pitchFamily="34" charset="0"/>
                <a:ea typeface="Calibri" pitchFamily="34" charset="-122"/>
                <a:cs typeface="Calibri" pitchFamily="34" charset="-120"/>
              </a:rPr>
              <a:t>284</a:t>
            </a:r>
            <a:endParaRPr lang="en-US" sz="8800" dirty="0"/>
          </a:p>
        </p:txBody>
      </p:sp>
      <p:sp>
        <p:nvSpPr>
          <p:cNvPr id="27" name="Text 25"/>
          <p:cNvSpPr txBox="1"/>
          <p:nvPr/>
        </p:nvSpPr>
        <p:spPr>
          <a:xfrm>
            <a:off x="7086600" y="5257800"/>
            <a:ext cx="4572000" cy="411480"/>
          </a:xfrm>
          <a:prstGeom prst="rect">
            <a:avLst/>
          </a:prstGeom>
          <a:noFill/>
          <a:ln/>
        </p:spPr>
        <p:txBody>
          <a:bodyPr wrap="square" lIns="0" tIns="0" rIns="0" bIns="0" rtlCol="0" anchor="t"/>
          <a:lstStyle/>
          <a:p>
            <a:pPr indent="0" marL="0">
              <a:buNone/>
            </a:pPr>
            <a:r>
              <a:rPr lang="en-US" sz="2000" b="1" dirty="0">
                <a:solidFill>
                  <a:srgbClr val="161B22"/>
                </a:solidFill>
                <a:latin typeface="Calibri" pitchFamily="34" charset="0"/>
                <a:ea typeface="Calibri" pitchFamily="34" charset="-122"/>
                <a:cs typeface="Calibri" pitchFamily="34" charset="-120"/>
              </a:rPr>
              <a:t>companies from a single request</a:t>
            </a:r>
            <a:endParaRPr lang="en-US" sz="2000" dirty="0"/>
          </a:p>
        </p:txBody>
      </p:sp>
      <p:sp>
        <p:nvSpPr>
          <p:cNvPr id="28" name="Text 26"/>
          <p:cNvSpPr txBox="1"/>
          <p:nvPr/>
        </p:nvSpPr>
        <p:spPr>
          <a:xfrm>
            <a:off x="7086600" y="5669280"/>
            <a:ext cx="4572000" cy="36576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Most of these addresses only answer POST requests</a:t>
            </a:r>
            <a:endParaRPr lang="en-US" sz="1500" dirty="0"/>
          </a:p>
        </p:txBody>
      </p:sp>
      <p:sp>
        <p:nvSpPr>
          <p:cNvPr id="29" name="Text 27"/>
          <p:cNvSpPr txBox="1"/>
          <p:nvPr/>
        </p:nvSpPr>
        <p:spPr>
          <a:xfrm>
            <a:off x="11185855" y="6400800"/>
            <a:ext cx="457200" cy="274320"/>
          </a:xfrm>
          <a:prstGeom prst="rect">
            <a:avLst/>
          </a:prstGeom>
          <a:noFill/>
          <a:ln/>
        </p:spPr>
        <p:txBody>
          <a:bodyPr wrap="square" lIns="0" tIns="0" rIns="0" bIns="0" rtlCol="0" anchor="t"/>
          <a:lstStyle/>
          <a:p>
            <a:pPr algn="r" indent="0" marL="0">
              <a:buNone/>
            </a:pPr>
            <a:r>
              <a:rPr lang="en-US" sz="1100" dirty="0">
                <a:solidFill>
                  <a:srgbClr val="57606A"/>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600" b="1" dirty="0">
                <a:solidFill>
                  <a:srgbClr val="161B22"/>
                </a:solidFill>
                <a:latin typeface="Calibri" pitchFamily="34" charset="0"/>
                <a:ea typeface="Calibri" pitchFamily="34" charset="-122"/>
                <a:cs typeface="Calibri" pitchFamily="34" charset="-120"/>
              </a:rPr>
              <a:t>Ethics: every request goes through one function</a:t>
            </a:r>
            <a:endParaRPr lang="en-US" sz="3600" dirty="0"/>
          </a:p>
        </p:txBody>
      </p:sp>
      <p:sp>
        <p:nvSpPr>
          <p:cNvPr id="3" name="Text 1"/>
          <p:cNvSpPr txBox="1"/>
          <p:nvPr/>
        </p:nvSpPr>
        <p:spPr>
          <a:xfrm>
            <a:off x="548640" y="1143000"/>
            <a:ext cx="11094415" cy="411480"/>
          </a:xfrm>
          <a:prstGeom prst="rect">
            <a:avLst/>
          </a:prstGeom>
          <a:noFill/>
          <a:ln/>
        </p:spPr>
        <p:txBody>
          <a:bodyPr wrap="square" lIns="0" tIns="0" rIns="0" bIns="0" rtlCol="0" anchor="t"/>
          <a:lstStyle/>
          <a:p>
            <a:pPr indent="0" marL="0">
              <a:buNone/>
            </a:pPr>
            <a:r>
              <a:rPr lang="en-US" sz="1800" dirty="0">
                <a:solidFill>
                  <a:srgbClr val="57606A"/>
                </a:solidFill>
                <a:latin typeface="Calibri" pitchFamily="34" charset="0"/>
                <a:ea typeface="Calibri" pitchFamily="34" charset="-122"/>
                <a:cs typeface="Calibri" pitchFamily="34" charset="-120"/>
              </a:rPr>
              <a:t>The rules are written once, so no part of the project can skip them</a:t>
            </a:r>
            <a:endParaRPr lang="en-US" sz="1800" dirty="0"/>
          </a:p>
        </p:txBody>
      </p:sp>
      <p:sp>
        <p:nvSpPr>
          <p:cNvPr id="4" name="Shape 2"/>
          <p:cNvSpPr/>
          <p:nvPr/>
        </p:nvSpPr>
        <p:spPr>
          <a:xfrm>
            <a:off x="548640" y="1783080"/>
            <a:ext cx="548640" cy="548640"/>
          </a:xfrm>
          <a:prstGeom prst="ellipse">
            <a:avLst/>
          </a:prstGeom>
          <a:solidFill>
            <a:srgbClr val="0891B2"/>
          </a:solidFill>
          <a:ln w="12700">
            <a:solidFill>
              <a:srgbClr val="0891B2"/>
            </a:solidFill>
            <a:prstDash val="solid"/>
          </a:ln>
        </p:spPr>
      </p:sp>
      <p:sp>
        <p:nvSpPr>
          <p:cNvPr id="5" name="Text 3"/>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325880" y="1764792"/>
            <a:ext cx="5486400" cy="365760"/>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Check robots.txt</a:t>
            </a:r>
            <a:endParaRPr lang="en-US" sz="1900" dirty="0"/>
          </a:p>
        </p:txBody>
      </p:sp>
      <p:sp>
        <p:nvSpPr>
          <p:cNvPr id="7" name="Text 5"/>
          <p:cNvSpPr txBox="1"/>
          <p:nvPr/>
        </p:nvSpPr>
        <p:spPr>
          <a:xfrm>
            <a:off x="1325880" y="2112264"/>
            <a:ext cx="5760720" cy="36576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CSE blocks one folder, /cgi-bin/ - we never go there</a:t>
            </a:r>
            <a:endParaRPr lang="en-US" sz="1500" dirty="0"/>
          </a:p>
        </p:txBody>
      </p:sp>
      <p:sp>
        <p:nvSpPr>
          <p:cNvPr id="8" name="Shape 6"/>
          <p:cNvSpPr/>
          <p:nvPr/>
        </p:nvSpPr>
        <p:spPr>
          <a:xfrm>
            <a:off x="548640" y="2651760"/>
            <a:ext cx="548640" cy="548640"/>
          </a:xfrm>
          <a:prstGeom prst="ellipse">
            <a:avLst/>
          </a:prstGeom>
          <a:solidFill>
            <a:srgbClr val="0891B2"/>
          </a:solidFill>
          <a:ln w="12700">
            <a:solidFill>
              <a:srgbClr val="0891B2"/>
            </a:solidFill>
            <a:prstDash val="solid"/>
          </a:ln>
        </p:spPr>
      </p:sp>
      <p:sp>
        <p:nvSpPr>
          <p:cNvPr id="9" name="Text 7"/>
          <p:cNvSpPr txBox="1"/>
          <p:nvPr/>
        </p:nvSpPr>
        <p:spPr>
          <a:xfrm>
            <a:off x="548640"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325880" y="2633472"/>
            <a:ext cx="5486400" cy="365760"/>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Wait 1.5 seconds</a:t>
            </a:r>
            <a:endParaRPr lang="en-US" sz="1900" dirty="0"/>
          </a:p>
        </p:txBody>
      </p:sp>
      <p:sp>
        <p:nvSpPr>
          <p:cNvPr id="11" name="Text 9"/>
          <p:cNvSpPr txBox="1"/>
          <p:nvPr/>
        </p:nvSpPr>
        <p:spPr>
          <a:xfrm>
            <a:off x="1325880" y="2980944"/>
            <a:ext cx="5760720" cy="36576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Between every request, even though CSE does not ask us to</a:t>
            </a:r>
            <a:endParaRPr lang="en-US" sz="1500" dirty="0"/>
          </a:p>
        </p:txBody>
      </p:sp>
      <p:sp>
        <p:nvSpPr>
          <p:cNvPr id="12" name="Shape 10"/>
          <p:cNvSpPr/>
          <p:nvPr/>
        </p:nvSpPr>
        <p:spPr>
          <a:xfrm>
            <a:off x="548640" y="3520440"/>
            <a:ext cx="548640" cy="548640"/>
          </a:xfrm>
          <a:prstGeom prst="ellipse">
            <a:avLst/>
          </a:prstGeom>
          <a:solidFill>
            <a:srgbClr val="0891B2"/>
          </a:solidFill>
          <a:ln w="12700">
            <a:solidFill>
              <a:srgbClr val="0891B2"/>
            </a:solidFill>
            <a:prstDash val="solid"/>
          </a:ln>
        </p:spPr>
      </p:sp>
      <p:sp>
        <p:nvSpPr>
          <p:cNvPr id="13" name="Text 11"/>
          <p:cNvSpPr txBox="1"/>
          <p:nvPr/>
        </p:nvSpPr>
        <p:spPr>
          <a:xfrm>
            <a:off x="548640" y="3520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325880" y="3502152"/>
            <a:ext cx="5486400" cy="365760"/>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Say who we are</a:t>
            </a:r>
            <a:endParaRPr lang="en-US" sz="1900" dirty="0"/>
          </a:p>
        </p:txBody>
      </p:sp>
      <p:sp>
        <p:nvSpPr>
          <p:cNvPr id="15" name="Text 13"/>
          <p:cNvSpPr txBox="1"/>
          <p:nvPr/>
        </p:nvSpPr>
        <p:spPr>
          <a:xfrm>
            <a:off x="1325880" y="3849624"/>
            <a:ext cx="5760720" cy="36576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Our university, course and an email address in the User-Agent</a:t>
            </a:r>
            <a:endParaRPr lang="en-US" sz="1500" dirty="0"/>
          </a:p>
        </p:txBody>
      </p:sp>
      <p:sp>
        <p:nvSpPr>
          <p:cNvPr id="16" name="Shape 14"/>
          <p:cNvSpPr/>
          <p:nvPr/>
        </p:nvSpPr>
        <p:spPr>
          <a:xfrm>
            <a:off x="548640" y="4389120"/>
            <a:ext cx="548640" cy="548640"/>
          </a:xfrm>
          <a:prstGeom prst="ellipse">
            <a:avLst/>
          </a:prstGeom>
          <a:solidFill>
            <a:srgbClr val="0891B2"/>
          </a:solidFill>
          <a:ln w="12700">
            <a:solidFill>
              <a:srgbClr val="0891B2"/>
            </a:solidFill>
            <a:prstDash val="solid"/>
          </a:ln>
        </p:spPr>
      </p:sp>
      <p:sp>
        <p:nvSpPr>
          <p:cNvPr id="17" name="Text 15"/>
          <p:cNvSpPr txBox="1"/>
          <p:nvPr/>
        </p:nvSpPr>
        <p:spPr>
          <a:xfrm>
            <a:off x="548640" y="43891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325880" y="4370832"/>
            <a:ext cx="5486400" cy="365760"/>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Log it</a:t>
            </a:r>
            <a:endParaRPr lang="en-US" sz="1900" dirty="0"/>
          </a:p>
        </p:txBody>
      </p:sp>
      <p:sp>
        <p:nvSpPr>
          <p:cNvPr id="19" name="Text 17"/>
          <p:cNvSpPr txBox="1"/>
          <p:nvPr/>
        </p:nvSpPr>
        <p:spPr>
          <a:xfrm>
            <a:off x="1325880" y="4718304"/>
            <a:ext cx="5760720" cy="36576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Every request is written to logs/request_log.csv</a:t>
            </a:r>
            <a:endParaRPr lang="en-US" sz="1500" dirty="0"/>
          </a:p>
        </p:txBody>
      </p:sp>
      <p:sp>
        <p:nvSpPr>
          <p:cNvPr id="20" name="Shape 18"/>
          <p:cNvSpPr/>
          <p:nvPr/>
        </p:nvSpPr>
        <p:spPr>
          <a:xfrm>
            <a:off x="548640" y="5257800"/>
            <a:ext cx="548640" cy="548640"/>
          </a:xfrm>
          <a:prstGeom prst="ellipse">
            <a:avLst/>
          </a:prstGeom>
          <a:solidFill>
            <a:srgbClr val="0891B2"/>
          </a:solidFill>
          <a:ln w="12700">
            <a:solidFill>
              <a:srgbClr val="0891B2"/>
            </a:solidFill>
            <a:prstDash val="solid"/>
          </a:ln>
        </p:spPr>
      </p:sp>
      <p:sp>
        <p:nvSpPr>
          <p:cNvPr id="21" name="Text 19"/>
          <p:cNvSpPr txBox="1"/>
          <p:nvPr/>
        </p:nvSpPr>
        <p:spPr>
          <a:xfrm>
            <a:off x="548640" y="5257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325880" y="5239512"/>
            <a:ext cx="5486400" cy="365760"/>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Keep a copy</a:t>
            </a:r>
            <a:endParaRPr lang="en-US" sz="1900" dirty="0"/>
          </a:p>
        </p:txBody>
      </p:sp>
      <p:sp>
        <p:nvSpPr>
          <p:cNvPr id="23" name="Text 21"/>
          <p:cNvSpPr txBox="1"/>
          <p:nvPr/>
        </p:nvSpPr>
        <p:spPr>
          <a:xfrm>
            <a:off x="1325880" y="5586984"/>
            <a:ext cx="5760720" cy="36576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So we never ask CSE for the same thing twice</a:t>
            </a:r>
            <a:endParaRPr lang="en-US" sz="1500" dirty="0"/>
          </a:p>
        </p:txBody>
      </p:sp>
      <p:sp>
        <p:nvSpPr>
          <p:cNvPr id="24" name="Text 22"/>
          <p:cNvSpPr txBox="1"/>
          <p:nvPr/>
        </p:nvSpPr>
        <p:spPr>
          <a:xfrm>
            <a:off x="6812280" y="1783080"/>
            <a:ext cx="4830775" cy="365760"/>
          </a:xfrm>
          <a:prstGeom prst="rect">
            <a:avLst/>
          </a:prstGeom>
          <a:noFill/>
          <a:ln/>
        </p:spPr>
        <p:txBody>
          <a:bodyPr wrap="square" lIns="0" tIns="0" rIns="0" bIns="0" rtlCol="0" anchor="t"/>
          <a:lstStyle/>
          <a:p>
            <a:pPr indent="0" marL="0">
              <a:buNone/>
            </a:pPr>
            <a:r>
              <a:rPr lang="en-US" sz="1500" b="1" dirty="0">
                <a:solidFill>
                  <a:srgbClr val="57606A"/>
                </a:solidFill>
                <a:latin typeface="Calibri" pitchFamily="34" charset="0"/>
                <a:ea typeface="Calibri" pitchFamily="34" charset="-122"/>
                <a:cs typeface="Calibri" pitchFamily="34" charset="-120"/>
              </a:rPr>
              <a:t>CSE's robots.txt</a:t>
            </a:r>
            <a:endParaRPr lang="en-US" sz="1500" dirty="0"/>
          </a:p>
        </p:txBody>
      </p:sp>
      <p:sp>
        <p:nvSpPr>
          <p:cNvPr id="25" name="Shape 23"/>
          <p:cNvSpPr/>
          <p:nvPr/>
        </p:nvSpPr>
        <p:spPr>
          <a:xfrm>
            <a:off x="6812280" y="2194560"/>
            <a:ext cx="4830775" cy="1371600"/>
          </a:xfrm>
          <a:prstGeom prst="roundRect">
            <a:avLst>
              <a:gd name="adj" fmla="val 8000"/>
            </a:avLst>
          </a:prstGeom>
          <a:solidFill>
            <a:srgbClr val="F1F5F9"/>
          </a:solidFill>
          <a:ln w="12700">
            <a:solidFill>
              <a:srgbClr val="F1F5F9"/>
            </a:solidFill>
            <a:prstDash val="solid"/>
          </a:ln>
        </p:spPr>
      </p:sp>
      <p:sp>
        <p:nvSpPr>
          <p:cNvPr id="26" name="Text 24"/>
          <p:cNvSpPr txBox="1"/>
          <p:nvPr/>
        </p:nvSpPr>
        <p:spPr>
          <a:xfrm>
            <a:off x="7086600" y="2331720"/>
            <a:ext cx="4419295" cy="1143000"/>
          </a:xfrm>
          <a:prstGeom prst="rect">
            <a:avLst/>
          </a:prstGeom>
          <a:noFill/>
          <a:ln/>
        </p:spPr>
        <p:txBody>
          <a:bodyPr wrap="square" lIns="0" tIns="0" rIns="0" bIns="0" rtlCol="0" anchor="ctr"/>
          <a:lstStyle/>
          <a:p>
            <a:pPr indent="0" marL="0">
              <a:buNone/>
            </a:pPr>
            <a:r>
              <a:rPr lang="en-US" sz="1300" dirty="0">
                <a:solidFill>
                  <a:srgbClr val="161B22"/>
                </a:solidFill>
                <a:latin typeface="Courier New" pitchFamily="34" charset="0"/>
                <a:ea typeface="Courier New" pitchFamily="34" charset="-122"/>
                <a:cs typeface="Courier New" pitchFamily="34" charset="-120"/>
              </a:rPr>
              <a:t>User-agent: *</a:t>
            </a:r>
            <a:endParaRPr lang="en-US" sz="1300" dirty="0"/>
          </a:p>
          <a:p>
            <a:pPr indent="0" marL="0">
              <a:buNone/>
            </a:pPr>
            <a:r>
              <a:rPr lang="en-US" sz="1300" dirty="0">
                <a:solidFill>
                  <a:srgbClr val="161B22"/>
                </a:solidFill>
                <a:latin typeface="Courier New" pitchFamily="34" charset="0"/>
                <a:ea typeface="Courier New" pitchFamily="34" charset="-122"/>
                <a:cs typeface="Courier New" pitchFamily="34" charset="-120"/>
              </a:rPr>
              <a:t>Disallow:</a:t>
            </a:r>
            <a:endParaRPr lang="en-US" sz="1300" dirty="0"/>
          </a:p>
          <a:p>
            <a:pPr indent="0" marL="0">
              <a:buNone/>
            </a:pPr>
            <a:r>
              <a:rPr lang="en-US" sz="1300" dirty="0">
                <a:solidFill>
                  <a:srgbClr val="161B22"/>
                </a:solidFill>
                <a:latin typeface="Courier New" pitchFamily="34" charset="0"/>
                <a:ea typeface="Courier New" pitchFamily="34" charset="-122"/>
                <a:cs typeface="Courier New" pitchFamily="34" charset="-120"/>
              </a:rPr>
              <a:t>Disallow: /cgi-bin/</a:t>
            </a:r>
            <a:endParaRPr lang="en-US" sz="1300" dirty="0"/>
          </a:p>
          <a:p>
            <a:pPr indent="0" marL="0">
              <a:buNone/>
            </a:pPr>
            <a:r>
              <a:rPr lang="en-US" sz="1300" dirty="0">
                <a:solidFill>
                  <a:srgbClr val="161B22"/>
                </a:solidFill>
                <a:latin typeface="Courier New" pitchFamily="34" charset="0"/>
                <a:ea typeface="Courier New" pitchFamily="34" charset="-122"/>
                <a:cs typeface="Courier New" pitchFamily="34" charset="-120"/>
              </a:rPr>
              <a:t>Sitemap: https://www.cse.lk/sitemap.xml</a:t>
            </a:r>
            <a:endParaRPr lang="en-US" sz="1300" dirty="0"/>
          </a:p>
        </p:txBody>
      </p:sp>
      <p:sp>
        <p:nvSpPr>
          <p:cNvPr id="27" name="Shape 25"/>
          <p:cNvSpPr/>
          <p:nvPr/>
        </p:nvSpPr>
        <p:spPr>
          <a:xfrm>
            <a:off x="6812280" y="3886200"/>
            <a:ext cx="4830775" cy="1920240"/>
          </a:xfrm>
          <a:prstGeom prst="roundRect">
            <a:avLst>
              <a:gd name="adj" fmla="val 5714"/>
            </a:avLst>
          </a:prstGeom>
          <a:solidFill>
            <a:srgbClr val="E0F2F7"/>
          </a:solidFill>
          <a:ln w="12700">
            <a:solidFill>
              <a:srgbClr val="E0F2F7"/>
            </a:solidFill>
            <a:prstDash val="solid"/>
          </a:ln>
        </p:spPr>
      </p:sp>
      <p:sp>
        <p:nvSpPr>
          <p:cNvPr id="28" name="Text 26"/>
          <p:cNvSpPr txBox="1"/>
          <p:nvPr/>
        </p:nvSpPr>
        <p:spPr>
          <a:xfrm>
            <a:off x="7086600" y="3886200"/>
            <a:ext cx="4282135" cy="1920240"/>
          </a:xfrm>
          <a:prstGeom prst="rect">
            <a:avLst/>
          </a:prstGeom>
          <a:noFill/>
          <a:ln/>
        </p:spPr>
        <p:txBody>
          <a:bodyPr wrap="square" lIns="0" tIns="0" rIns="0" bIns="0" rtlCol="0" anchor="ctr"/>
          <a:lstStyle/>
          <a:p>
            <a:pPr marL="342900" indent="-342900">
              <a:spcAft>
                <a:spcPts val="800"/>
              </a:spcAft>
              <a:buSzPct val="100000"/>
              <a:buChar char="•"/>
            </a:pPr>
            <a:r>
              <a:rPr lang="en-US" sz="1700" b="1" dirty="0">
                <a:solidFill>
                  <a:srgbClr val="161B22"/>
                </a:solidFill>
                <a:latin typeface="Calibri" pitchFamily="34" charset="0"/>
                <a:ea typeface="Calibri" pitchFamily="34" charset="-122"/>
                <a:cs typeface="Calibri" pitchFamily="34" charset="-120"/>
              </a:rPr>
              <a:t>Public data only</a:t>
            </a:r>
            <a:endParaRPr lang="en-US" sz="1700" dirty="0"/>
          </a:p>
          <a:p>
            <a:pPr marL="342900" indent="-342900">
              <a:spcAft>
                <a:spcPts val="800"/>
              </a:spcAft>
              <a:buSzPct val="100000"/>
              <a:buChar char="•"/>
            </a:pPr>
            <a:r>
              <a:rPr lang="en-US" sz="1700" b="1" dirty="0">
                <a:solidFill>
                  <a:srgbClr val="161B22"/>
                </a:solidFill>
                <a:latin typeface="Calibri" pitchFamily="34" charset="0"/>
                <a:ea typeface="Calibri" pitchFamily="34" charset="-122"/>
                <a:cs typeface="Calibri" pitchFamily="34" charset="-120"/>
              </a:rPr>
              <a:t>Nothing personal is collected</a:t>
            </a:r>
            <a:endParaRPr lang="en-US" sz="1700" dirty="0"/>
          </a:p>
          <a:p>
            <a:pPr marL="342900" indent="-342900">
              <a:spcAft>
                <a:spcPts val="800"/>
              </a:spcAft>
              <a:buSzPct val="100000"/>
              <a:buChar char="•"/>
            </a:pPr>
            <a:r>
              <a:rPr lang="en-US" sz="1700" b="1" dirty="0">
                <a:solidFill>
                  <a:srgbClr val="161B22"/>
                </a:solidFill>
                <a:latin typeface="Calibri" pitchFamily="34" charset="0"/>
                <a:ea typeface="Calibri" pitchFamily="34" charset="-122"/>
                <a:cs typeface="Calibri" pitchFamily="34" charset="-120"/>
              </a:rPr>
              <a:t>CSE is credited inside every file we save</a:t>
            </a:r>
            <a:endParaRPr lang="en-US" sz="1700" dirty="0"/>
          </a:p>
        </p:txBody>
      </p:sp>
      <p:sp>
        <p:nvSpPr>
          <p:cNvPr id="29" name="Text 27"/>
          <p:cNvSpPr txBox="1"/>
          <p:nvPr/>
        </p:nvSpPr>
        <p:spPr>
          <a:xfrm>
            <a:off x="11185855" y="6400800"/>
            <a:ext cx="457200" cy="274320"/>
          </a:xfrm>
          <a:prstGeom prst="rect">
            <a:avLst/>
          </a:prstGeom>
          <a:noFill/>
          <a:ln/>
        </p:spPr>
        <p:txBody>
          <a:bodyPr wrap="square" lIns="0" tIns="0" rIns="0" bIns="0" rtlCol="0" anchor="t"/>
          <a:lstStyle/>
          <a:p>
            <a:pPr algn="r" indent="0" marL="0">
              <a:buNone/>
            </a:pPr>
            <a:r>
              <a:rPr lang="en-US" sz="1100" dirty="0">
                <a:solidFill>
                  <a:srgbClr val="57606A"/>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600" b="1" dirty="0">
                <a:solidFill>
                  <a:srgbClr val="161B22"/>
                </a:solidFill>
                <a:latin typeface="Calibri" pitchFamily="34" charset="0"/>
                <a:ea typeface="Calibri" pitchFamily="34" charset="-122"/>
                <a:cs typeface="Calibri" pitchFamily="34" charset="-120"/>
              </a:rPr>
              <a:t>Announcements: finding and reading the PDFs</a:t>
            </a:r>
            <a:endParaRPr lang="en-US" sz="3600" dirty="0"/>
          </a:p>
        </p:txBody>
      </p:sp>
      <p:sp>
        <p:nvSpPr>
          <p:cNvPr id="3" name="Text 1"/>
          <p:cNvSpPr txBox="1"/>
          <p:nvPr/>
        </p:nvSpPr>
        <p:spPr>
          <a:xfrm>
            <a:off x="548640" y="1143000"/>
            <a:ext cx="11094415" cy="411480"/>
          </a:xfrm>
          <a:prstGeom prst="rect">
            <a:avLst/>
          </a:prstGeom>
          <a:noFill/>
          <a:ln/>
        </p:spPr>
        <p:txBody>
          <a:bodyPr wrap="square" lIns="0" tIns="0" rIns="0" bIns="0" rtlCol="0" anchor="t"/>
          <a:lstStyle/>
          <a:p>
            <a:pPr indent="0" marL="0">
              <a:buNone/>
            </a:pPr>
            <a:r>
              <a:rPr lang="en-US" sz="1800" dirty="0">
                <a:solidFill>
                  <a:srgbClr val="57606A"/>
                </a:solidFill>
                <a:latin typeface="Calibri" pitchFamily="34" charset="0"/>
                <a:ea typeface="Calibri" pitchFamily="34" charset="-122"/>
                <a:cs typeface="Calibri" pitchFamily="34" charset="-120"/>
              </a:rPr>
              <a:t>A crawler finds the documents, then we read the text out of each one</a:t>
            </a:r>
            <a:endParaRPr lang="en-US" sz="1800" dirty="0"/>
          </a:p>
        </p:txBody>
      </p:sp>
      <p:sp>
        <p:nvSpPr>
          <p:cNvPr id="4" name="Shape 2"/>
          <p:cNvSpPr/>
          <p:nvPr/>
        </p:nvSpPr>
        <p:spPr>
          <a:xfrm>
            <a:off x="548640" y="1783080"/>
            <a:ext cx="548640" cy="548640"/>
          </a:xfrm>
          <a:prstGeom prst="ellipse">
            <a:avLst/>
          </a:prstGeom>
          <a:solidFill>
            <a:srgbClr val="0891B2"/>
          </a:solidFill>
          <a:ln w="12700">
            <a:solidFill>
              <a:srgbClr val="0891B2"/>
            </a:solidFill>
            <a:prstDash val="solid"/>
          </a:ln>
        </p:spPr>
      </p:sp>
      <p:sp>
        <p:nvSpPr>
          <p:cNvPr id="5" name="Text 3"/>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Shape 4"/>
          <p:cNvSpPr/>
          <p:nvPr/>
        </p:nvSpPr>
        <p:spPr>
          <a:xfrm>
            <a:off x="1234440" y="2057400"/>
            <a:ext cx="2999232" cy="0"/>
          </a:xfrm>
          <a:prstGeom prst="line">
            <a:avLst/>
          </a:prstGeom>
          <a:noFill/>
          <a:ln w="25400">
            <a:solidFill>
              <a:srgbClr val="D0D7DE"/>
            </a:solidFill>
            <a:prstDash val="solid"/>
            <a:tailEnd type="triangle"/>
          </a:ln>
        </p:spPr>
      </p:sp>
      <p:sp>
        <p:nvSpPr>
          <p:cNvPr id="7" name="Text 5"/>
          <p:cNvSpPr txBox="1"/>
          <p:nvPr/>
        </p:nvSpPr>
        <p:spPr>
          <a:xfrm>
            <a:off x="548640" y="2468880"/>
            <a:ext cx="342900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Read the list</a:t>
            </a:r>
            <a:endParaRPr lang="en-US" sz="1900" dirty="0"/>
          </a:p>
        </p:txBody>
      </p:sp>
      <p:sp>
        <p:nvSpPr>
          <p:cNvPr id="8" name="Text 6"/>
          <p:cNvSpPr txBox="1"/>
          <p:nvPr/>
        </p:nvSpPr>
        <p:spPr>
          <a:xfrm>
            <a:off x="548640" y="2834640"/>
            <a:ext cx="324612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of circulars CSE has published</a:t>
            </a:r>
            <a:endParaRPr lang="en-US" sz="1500" dirty="0"/>
          </a:p>
        </p:txBody>
      </p:sp>
      <p:sp>
        <p:nvSpPr>
          <p:cNvPr id="9" name="Shape 7"/>
          <p:cNvSpPr/>
          <p:nvPr/>
        </p:nvSpPr>
        <p:spPr>
          <a:xfrm>
            <a:off x="4370832" y="1783080"/>
            <a:ext cx="548640" cy="548640"/>
          </a:xfrm>
          <a:prstGeom prst="ellipse">
            <a:avLst/>
          </a:prstGeom>
          <a:solidFill>
            <a:srgbClr val="0891B2"/>
          </a:solidFill>
          <a:ln w="12700">
            <a:solidFill>
              <a:srgbClr val="0891B2"/>
            </a:solidFill>
            <a:prstDash val="solid"/>
          </a:ln>
        </p:spPr>
      </p:sp>
      <p:sp>
        <p:nvSpPr>
          <p:cNvPr id="10" name="Text 8"/>
          <p:cNvSpPr txBox="1"/>
          <p:nvPr/>
        </p:nvSpPr>
        <p:spPr>
          <a:xfrm>
            <a:off x="4370832"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Shape 9"/>
          <p:cNvSpPr/>
          <p:nvPr/>
        </p:nvSpPr>
        <p:spPr>
          <a:xfrm>
            <a:off x="5056632" y="2057400"/>
            <a:ext cx="2999232" cy="0"/>
          </a:xfrm>
          <a:prstGeom prst="line">
            <a:avLst/>
          </a:prstGeom>
          <a:noFill/>
          <a:ln w="25400">
            <a:solidFill>
              <a:srgbClr val="D0D7DE"/>
            </a:solidFill>
            <a:prstDash val="solid"/>
            <a:tailEnd type="triangle"/>
          </a:ln>
        </p:spPr>
      </p:sp>
      <p:sp>
        <p:nvSpPr>
          <p:cNvPr id="12" name="Text 10"/>
          <p:cNvSpPr txBox="1"/>
          <p:nvPr/>
        </p:nvSpPr>
        <p:spPr>
          <a:xfrm>
            <a:off x="4370832" y="2468880"/>
            <a:ext cx="342900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Build each address</a:t>
            </a:r>
            <a:endParaRPr lang="en-US" sz="1900" dirty="0"/>
          </a:p>
        </p:txBody>
      </p:sp>
      <p:sp>
        <p:nvSpPr>
          <p:cNvPr id="13" name="Text 11"/>
          <p:cNvSpPr txBox="1"/>
          <p:nvPr/>
        </p:nvSpPr>
        <p:spPr>
          <a:xfrm>
            <a:off x="4370832" y="2834640"/>
            <a:ext cx="324612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The PDFs live on a separate server, cdn.cse.lk</a:t>
            </a:r>
            <a:endParaRPr lang="en-US" sz="1500" dirty="0"/>
          </a:p>
        </p:txBody>
      </p:sp>
      <p:sp>
        <p:nvSpPr>
          <p:cNvPr id="14" name="Shape 12"/>
          <p:cNvSpPr/>
          <p:nvPr/>
        </p:nvSpPr>
        <p:spPr>
          <a:xfrm>
            <a:off x="8193024" y="1783080"/>
            <a:ext cx="548640" cy="548640"/>
          </a:xfrm>
          <a:prstGeom prst="ellipse">
            <a:avLst/>
          </a:prstGeom>
          <a:solidFill>
            <a:srgbClr val="0891B2"/>
          </a:solidFill>
          <a:ln w="12700">
            <a:solidFill>
              <a:srgbClr val="0891B2"/>
            </a:solidFill>
            <a:prstDash val="solid"/>
          </a:ln>
        </p:spPr>
      </p:sp>
      <p:sp>
        <p:nvSpPr>
          <p:cNvPr id="15" name="Text 13"/>
          <p:cNvSpPr txBox="1"/>
          <p:nvPr/>
        </p:nvSpPr>
        <p:spPr>
          <a:xfrm>
            <a:off x="8193024"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8193024" y="2468880"/>
            <a:ext cx="342900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Download politely</a:t>
            </a:r>
            <a:endParaRPr lang="en-US" sz="1900" dirty="0"/>
          </a:p>
        </p:txBody>
      </p:sp>
      <p:sp>
        <p:nvSpPr>
          <p:cNvPr id="17" name="Text 15"/>
          <p:cNvSpPr txBox="1"/>
          <p:nvPr/>
        </p:nvSpPr>
        <p:spPr>
          <a:xfrm>
            <a:off x="8193024" y="2834640"/>
            <a:ext cx="324612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A few at a time, no copies, and only real PDFs</a:t>
            </a:r>
            <a:endParaRPr lang="en-US" sz="1500" dirty="0"/>
          </a:p>
        </p:txBody>
      </p:sp>
      <p:sp>
        <p:nvSpPr>
          <p:cNvPr id="18" name="Shape 16"/>
          <p:cNvSpPr/>
          <p:nvPr/>
        </p:nvSpPr>
        <p:spPr>
          <a:xfrm>
            <a:off x="548640" y="3703320"/>
            <a:ext cx="3429000" cy="2423160"/>
          </a:xfrm>
          <a:prstGeom prst="roundRect">
            <a:avLst>
              <a:gd name="adj" fmla="val 4528"/>
            </a:avLst>
          </a:prstGeom>
          <a:solidFill>
            <a:srgbClr val="F1F5F9"/>
          </a:solidFill>
          <a:ln w="12700">
            <a:solidFill>
              <a:srgbClr val="F1F5F9"/>
            </a:solidFill>
            <a:prstDash val="solid"/>
          </a:ln>
        </p:spPr>
      </p:sp>
      <p:sp>
        <p:nvSpPr>
          <p:cNvPr id="19" name="Text 17"/>
          <p:cNvSpPr txBox="1"/>
          <p:nvPr/>
        </p:nvSpPr>
        <p:spPr>
          <a:xfrm>
            <a:off x="822960" y="3886200"/>
            <a:ext cx="288036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Text-based</a:t>
            </a:r>
            <a:endParaRPr lang="en-US" sz="1900" dirty="0"/>
          </a:p>
        </p:txBody>
      </p:sp>
      <p:sp>
        <p:nvSpPr>
          <p:cNvPr id="20" name="Text 18"/>
          <p:cNvSpPr txBox="1"/>
          <p:nvPr/>
        </p:nvSpPr>
        <p:spPr>
          <a:xfrm>
            <a:off x="822960" y="4297680"/>
            <a:ext cx="2880360" cy="777240"/>
          </a:xfrm>
          <a:prstGeom prst="rect">
            <a:avLst/>
          </a:prstGeom>
          <a:noFill/>
          <a:ln/>
        </p:spPr>
        <p:txBody>
          <a:bodyPr wrap="square" lIns="0" tIns="0" rIns="0" bIns="0" rtlCol="0" anchor="ctr"/>
          <a:lstStyle/>
          <a:p>
            <a:pPr indent="0" marL="0">
              <a:buNone/>
            </a:pPr>
            <a:r>
              <a:rPr lang="en-US" sz="5400" b="1" dirty="0">
                <a:solidFill>
                  <a:srgbClr val="0891B2"/>
                </a:solidFill>
                <a:latin typeface="Calibri" pitchFamily="34" charset="0"/>
                <a:ea typeface="Calibri" pitchFamily="34" charset="-122"/>
                <a:cs typeface="Calibri" pitchFamily="34" charset="-120"/>
              </a:rPr>
              <a:t>896</a:t>
            </a:r>
            <a:endParaRPr lang="en-US" sz="5400" dirty="0"/>
          </a:p>
        </p:txBody>
      </p:sp>
      <p:sp>
        <p:nvSpPr>
          <p:cNvPr id="21" name="Text 19"/>
          <p:cNvSpPr txBox="1"/>
          <p:nvPr/>
        </p:nvSpPr>
        <p:spPr>
          <a:xfrm>
            <a:off x="822960" y="5074920"/>
            <a:ext cx="2880360" cy="320040"/>
          </a:xfrm>
          <a:prstGeom prst="rect">
            <a:avLst/>
          </a:prstGeom>
          <a:noFill/>
          <a:ln/>
        </p:spPr>
        <p:txBody>
          <a:bodyPr wrap="square" lIns="0" tIns="0" rIns="0" bIns="0" rtlCol="0" anchor="t"/>
          <a:lstStyle/>
          <a:p>
            <a:pPr indent="0" marL="0">
              <a:buNone/>
            </a:pPr>
            <a:r>
              <a:rPr lang="en-US" sz="1400" b="1" dirty="0">
                <a:solidFill>
                  <a:srgbClr val="161B22"/>
                </a:solidFill>
                <a:latin typeface="Calibri" pitchFamily="34" charset="0"/>
                <a:ea typeface="Calibri" pitchFamily="34" charset="-122"/>
                <a:cs typeface="Calibri" pitchFamily="34" charset="-120"/>
              </a:rPr>
              <a:t>characters</a:t>
            </a:r>
            <a:endParaRPr lang="en-US" sz="1400" dirty="0"/>
          </a:p>
        </p:txBody>
      </p:sp>
      <p:sp>
        <p:nvSpPr>
          <p:cNvPr id="22" name="Text 20"/>
          <p:cNvSpPr txBox="1"/>
          <p:nvPr/>
        </p:nvSpPr>
        <p:spPr>
          <a:xfrm>
            <a:off x="822960" y="5394960"/>
            <a:ext cx="288036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pdfplumber reads the text straight out of the file</a:t>
            </a:r>
            <a:endParaRPr lang="en-US" sz="1400" dirty="0"/>
          </a:p>
        </p:txBody>
      </p:sp>
      <p:sp>
        <p:nvSpPr>
          <p:cNvPr id="23" name="Shape 21"/>
          <p:cNvSpPr/>
          <p:nvPr/>
        </p:nvSpPr>
        <p:spPr>
          <a:xfrm>
            <a:off x="4370832" y="3703320"/>
            <a:ext cx="3429000" cy="2423160"/>
          </a:xfrm>
          <a:prstGeom prst="roundRect">
            <a:avLst>
              <a:gd name="adj" fmla="val 4528"/>
            </a:avLst>
          </a:prstGeom>
          <a:solidFill>
            <a:srgbClr val="F1F5F9"/>
          </a:solidFill>
          <a:ln w="12700">
            <a:solidFill>
              <a:srgbClr val="F1F5F9"/>
            </a:solidFill>
            <a:prstDash val="solid"/>
          </a:ln>
        </p:spPr>
      </p:sp>
      <p:sp>
        <p:nvSpPr>
          <p:cNvPr id="24" name="Text 22"/>
          <p:cNvSpPr txBox="1"/>
          <p:nvPr/>
        </p:nvSpPr>
        <p:spPr>
          <a:xfrm>
            <a:off x="4645152" y="3886200"/>
            <a:ext cx="288036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Scanned</a:t>
            </a:r>
            <a:endParaRPr lang="en-US" sz="1900" dirty="0"/>
          </a:p>
        </p:txBody>
      </p:sp>
      <p:sp>
        <p:nvSpPr>
          <p:cNvPr id="25" name="Text 23"/>
          <p:cNvSpPr txBox="1"/>
          <p:nvPr/>
        </p:nvSpPr>
        <p:spPr>
          <a:xfrm>
            <a:off x="4645152" y="4297680"/>
            <a:ext cx="2880360" cy="777240"/>
          </a:xfrm>
          <a:prstGeom prst="rect">
            <a:avLst/>
          </a:prstGeom>
          <a:noFill/>
          <a:ln/>
        </p:spPr>
        <p:txBody>
          <a:bodyPr wrap="square" lIns="0" tIns="0" rIns="0" bIns="0" rtlCol="0" anchor="ctr"/>
          <a:lstStyle/>
          <a:p>
            <a:pPr indent="0" marL="0">
              <a:buNone/>
            </a:pPr>
            <a:r>
              <a:rPr lang="en-US" sz="5400" b="1" dirty="0">
                <a:solidFill>
                  <a:srgbClr val="DC2626"/>
                </a:solidFill>
                <a:latin typeface="Calibri" pitchFamily="34" charset="0"/>
                <a:ea typeface="Calibri" pitchFamily="34" charset="-122"/>
                <a:cs typeface="Calibri" pitchFamily="34" charset="-120"/>
              </a:rPr>
              <a:t>0</a:t>
            </a:r>
            <a:endParaRPr lang="en-US" sz="5400" dirty="0"/>
          </a:p>
        </p:txBody>
      </p:sp>
      <p:sp>
        <p:nvSpPr>
          <p:cNvPr id="26" name="Text 24"/>
          <p:cNvSpPr txBox="1"/>
          <p:nvPr/>
        </p:nvSpPr>
        <p:spPr>
          <a:xfrm>
            <a:off x="4645152" y="5074920"/>
            <a:ext cx="2880360" cy="320040"/>
          </a:xfrm>
          <a:prstGeom prst="rect">
            <a:avLst/>
          </a:prstGeom>
          <a:noFill/>
          <a:ln/>
        </p:spPr>
        <p:txBody>
          <a:bodyPr wrap="square" lIns="0" tIns="0" rIns="0" bIns="0" rtlCol="0" anchor="t"/>
          <a:lstStyle/>
          <a:p>
            <a:pPr indent="0" marL="0">
              <a:buNone/>
            </a:pPr>
            <a:r>
              <a:rPr lang="en-US" sz="1400" b="1" dirty="0">
                <a:solidFill>
                  <a:srgbClr val="161B22"/>
                </a:solidFill>
                <a:latin typeface="Calibri" pitchFamily="34" charset="0"/>
                <a:ea typeface="Calibri" pitchFamily="34" charset="-122"/>
                <a:cs typeface="Calibri" pitchFamily="34" charset="-120"/>
              </a:rPr>
              <a:t>characters</a:t>
            </a:r>
            <a:endParaRPr lang="en-US" sz="1400" dirty="0"/>
          </a:p>
        </p:txBody>
      </p:sp>
      <p:sp>
        <p:nvSpPr>
          <p:cNvPr id="27" name="Text 25"/>
          <p:cNvSpPr txBox="1"/>
          <p:nvPr/>
        </p:nvSpPr>
        <p:spPr>
          <a:xfrm>
            <a:off x="4645152" y="5394960"/>
            <a:ext cx="288036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A photo of a printed page - there is no text inside</a:t>
            </a:r>
            <a:endParaRPr lang="en-US" sz="1400" dirty="0"/>
          </a:p>
        </p:txBody>
      </p:sp>
      <p:sp>
        <p:nvSpPr>
          <p:cNvPr id="28" name="Shape 26"/>
          <p:cNvSpPr/>
          <p:nvPr/>
        </p:nvSpPr>
        <p:spPr>
          <a:xfrm>
            <a:off x="8193024" y="3703320"/>
            <a:ext cx="3429000" cy="2423160"/>
          </a:xfrm>
          <a:prstGeom prst="roundRect">
            <a:avLst>
              <a:gd name="adj" fmla="val 4528"/>
            </a:avLst>
          </a:prstGeom>
          <a:solidFill>
            <a:srgbClr val="F1F5F9"/>
          </a:solidFill>
          <a:ln w="12700">
            <a:solidFill>
              <a:srgbClr val="F1F5F9"/>
            </a:solidFill>
            <a:prstDash val="solid"/>
          </a:ln>
        </p:spPr>
      </p:sp>
      <p:sp>
        <p:nvSpPr>
          <p:cNvPr id="29" name="Text 27"/>
          <p:cNvSpPr txBox="1"/>
          <p:nvPr/>
        </p:nvSpPr>
        <p:spPr>
          <a:xfrm>
            <a:off x="8467344" y="3886200"/>
            <a:ext cx="288036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Hybrid</a:t>
            </a:r>
            <a:endParaRPr lang="en-US" sz="1900" dirty="0"/>
          </a:p>
        </p:txBody>
      </p:sp>
      <p:sp>
        <p:nvSpPr>
          <p:cNvPr id="30" name="Text 28"/>
          <p:cNvSpPr txBox="1"/>
          <p:nvPr/>
        </p:nvSpPr>
        <p:spPr>
          <a:xfrm>
            <a:off x="8467344" y="4297680"/>
            <a:ext cx="2880360" cy="777240"/>
          </a:xfrm>
          <a:prstGeom prst="rect">
            <a:avLst/>
          </a:prstGeom>
          <a:noFill/>
          <a:ln/>
        </p:spPr>
        <p:txBody>
          <a:bodyPr wrap="square" lIns="0" tIns="0" rIns="0" bIns="0" rtlCol="0" anchor="ctr"/>
          <a:lstStyle/>
          <a:p>
            <a:pPr indent="0" marL="0">
              <a:buNone/>
            </a:pPr>
            <a:r>
              <a:rPr lang="en-US" sz="3000" b="1" dirty="0">
                <a:solidFill>
                  <a:srgbClr val="0891B2"/>
                </a:solidFill>
                <a:latin typeface="Calibri" pitchFamily="34" charset="0"/>
                <a:ea typeface="Calibri" pitchFamily="34" charset="-122"/>
                <a:cs typeface="Calibri" pitchFamily="34" charset="-120"/>
              </a:rPr>
              <a:t>0  127  1,129  274</a:t>
            </a:r>
            <a:endParaRPr lang="en-US" sz="3000" dirty="0"/>
          </a:p>
        </p:txBody>
      </p:sp>
      <p:sp>
        <p:nvSpPr>
          <p:cNvPr id="31" name="Text 29"/>
          <p:cNvSpPr txBox="1"/>
          <p:nvPr/>
        </p:nvSpPr>
        <p:spPr>
          <a:xfrm>
            <a:off x="8467344" y="5074920"/>
            <a:ext cx="2880360" cy="320040"/>
          </a:xfrm>
          <a:prstGeom prst="rect">
            <a:avLst/>
          </a:prstGeom>
          <a:noFill/>
          <a:ln/>
        </p:spPr>
        <p:txBody>
          <a:bodyPr wrap="square" lIns="0" tIns="0" rIns="0" bIns="0" rtlCol="0" anchor="t"/>
          <a:lstStyle/>
          <a:p>
            <a:pPr indent="0" marL="0">
              <a:buNone/>
            </a:pPr>
            <a:r>
              <a:rPr lang="en-US" sz="1400" b="1" dirty="0">
                <a:solidFill>
                  <a:srgbClr val="161B22"/>
                </a:solidFill>
                <a:latin typeface="Calibri" pitchFamily="34" charset="0"/>
                <a:ea typeface="Calibri" pitchFamily="34" charset="-122"/>
                <a:cs typeface="Calibri" pitchFamily="34" charset="-120"/>
              </a:rPr>
              <a:t>characters on pages 1 to 4</a:t>
            </a:r>
            <a:endParaRPr lang="en-US" sz="1400" dirty="0"/>
          </a:p>
        </p:txBody>
      </p:sp>
      <p:sp>
        <p:nvSpPr>
          <p:cNvPr id="32" name="Text 30"/>
          <p:cNvSpPr txBox="1"/>
          <p:nvPr/>
        </p:nvSpPr>
        <p:spPr>
          <a:xfrm>
            <a:off x="8467344" y="5394960"/>
            <a:ext cx="288036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Only page 1 is a scan</a:t>
            </a:r>
            <a:endParaRPr lang="en-US" sz="1400" dirty="0"/>
          </a:p>
        </p:txBody>
      </p:sp>
      <p:sp>
        <p:nvSpPr>
          <p:cNvPr id="33" name="Text 31"/>
          <p:cNvSpPr txBox="1"/>
          <p:nvPr/>
        </p:nvSpPr>
        <p:spPr>
          <a:xfrm>
            <a:off x="11185855" y="6400800"/>
            <a:ext cx="457200" cy="274320"/>
          </a:xfrm>
          <a:prstGeom prst="rect">
            <a:avLst/>
          </a:prstGeom>
          <a:noFill/>
          <a:ln/>
        </p:spPr>
        <p:txBody>
          <a:bodyPr wrap="square" lIns="0" tIns="0" rIns="0" bIns="0" rtlCol="0" anchor="t"/>
          <a:lstStyle/>
          <a:p>
            <a:pPr algn="r" indent="0" marL="0">
              <a:buNone/>
            </a:pPr>
            <a:r>
              <a:rPr lang="en-US" sz="1100" dirty="0">
                <a:solidFill>
                  <a:srgbClr val="57606A"/>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600" b="1" dirty="0">
                <a:solidFill>
                  <a:srgbClr val="161B22"/>
                </a:solidFill>
                <a:latin typeface="Calibri" pitchFamily="34" charset="0"/>
                <a:ea typeface="Calibri" pitchFamily="34" charset="-122"/>
                <a:cs typeface="Calibri" pitchFamily="34" charset="-120"/>
              </a:rPr>
              <a:t>OCR: reading a scanned page</a:t>
            </a:r>
            <a:endParaRPr lang="en-US" sz="3600" dirty="0"/>
          </a:p>
        </p:txBody>
      </p:sp>
      <p:sp>
        <p:nvSpPr>
          <p:cNvPr id="3" name="Text 1"/>
          <p:cNvSpPr txBox="1"/>
          <p:nvPr/>
        </p:nvSpPr>
        <p:spPr>
          <a:xfrm>
            <a:off x="548640" y="1143000"/>
            <a:ext cx="11094415" cy="411480"/>
          </a:xfrm>
          <a:prstGeom prst="rect">
            <a:avLst/>
          </a:prstGeom>
          <a:noFill/>
          <a:ln/>
        </p:spPr>
        <p:txBody>
          <a:bodyPr wrap="square" lIns="0" tIns="0" rIns="0" bIns="0" rtlCol="0" anchor="t"/>
          <a:lstStyle/>
          <a:p>
            <a:pPr indent="0" marL="0">
              <a:buNone/>
            </a:pPr>
            <a:r>
              <a:rPr lang="en-US" sz="1800" dirty="0">
                <a:solidFill>
                  <a:srgbClr val="57606A"/>
                </a:solidFill>
                <a:latin typeface="Calibri" pitchFamily="34" charset="0"/>
                <a:ea typeface="Calibri" pitchFamily="34" charset="-122"/>
                <a:cs typeface="Calibri" pitchFamily="34" charset="-120"/>
              </a:rPr>
              <a:t>The four steps of the OCR pipeline, one tool for each</a:t>
            </a:r>
            <a:endParaRPr lang="en-US" sz="1800" dirty="0"/>
          </a:p>
        </p:txBody>
      </p:sp>
      <p:sp>
        <p:nvSpPr>
          <p:cNvPr id="4" name="Shape 2"/>
          <p:cNvSpPr/>
          <p:nvPr/>
        </p:nvSpPr>
        <p:spPr>
          <a:xfrm>
            <a:off x="548640" y="1783080"/>
            <a:ext cx="548640" cy="548640"/>
          </a:xfrm>
          <a:prstGeom prst="ellipse">
            <a:avLst/>
          </a:prstGeom>
          <a:solidFill>
            <a:srgbClr val="0891B2"/>
          </a:solidFill>
          <a:ln w="12700">
            <a:solidFill>
              <a:srgbClr val="0891B2"/>
            </a:solidFill>
            <a:prstDash val="solid"/>
          </a:ln>
        </p:spPr>
      </p:sp>
      <p:sp>
        <p:nvSpPr>
          <p:cNvPr id="5" name="Text 3"/>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Shape 4"/>
          <p:cNvSpPr/>
          <p:nvPr/>
        </p:nvSpPr>
        <p:spPr>
          <a:xfrm>
            <a:off x="1234440" y="2057400"/>
            <a:ext cx="2029968" cy="0"/>
          </a:xfrm>
          <a:prstGeom prst="line">
            <a:avLst/>
          </a:prstGeom>
          <a:noFill/>
          <a:ln w="25400">
            <a:solidFill>
              <a:srgbClr val="D0D7DE"/>
            </a:solidFill>
            <a:prstDash val="solid"/>
            <a:tailEnd type="triangle"/>
          </a:ln>
        </p:spPr>
      </p:sp>
      <p:sp>
        <p:nvSpPr>
          <p:cNvPr id="7" name="Text 5"/>
          <p:cNvSpPr txBox="1"/>
          <p:nvPr/>
        </p:nvSpPr>
        <p:spPr>
          <a:xfrm>
            <a:off x="548640" y="2468880"/>
            <a:ext cx="251460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Make an image</a:t>
            </a:r>
            <a:endParaRPr lang="en-US" sz="1900" dirty="0"/>
          </a:p>
        </p:txBody>
      </p:sp>
      <p:sp>
        <p:nvSpPr>
          <p:cNvPr id="8" name="Text 6"/>
          <p:cNvSpPr txBox="1"/>
          <p:nvPr/>
        </p:nvSpPr>
        <p:spPr>
          <a:xfrm>
            <a:off x="548640" y="2834640"/>
            <a:ext cx="242316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pdfplumber, at 200 dpi</a:t>
            </a:r>
            <a:endParaRPr lang="en-US" sz="1500" dirty="0"/>
          </a:p>
        </p:txBody>
      </p:sp>
      <p:sp>
        <p:nvSpPr>
          <p:cNvPr id="9" name="Shape 7"/>
          <p:cNvSpPr/>
          <p:nvPr/>
        </p:nvSpPr>
        <p:spPr>
          <a:xfrm>
            <a:off x="3401568" y="1783080"/>
            <a:ext cx="548640" cy="548640"/>
          </a:xfrm>
          <a:prstGeom prst="ellipse">
            <a:avLst/>
          </a:prstGeom>
          <a:solidFill>
            <a:srgbClr val="0891B2"/>
          </a:solidFill>
          <a:ln w="12700">
            <a:solidFill>
              <a:srgbClr val="0891B2"/>
            </a:solidFill>
            <a:prstDash val="solid"/>
          </a:ln>
        </p:spPr>
      </p:sp>
      <p:sp>
        <p:nvSpPr>
          <p:cNvPr id="10" name="Text 8"/>
          <p:cNvSpPr txBox="1"/>
          <p:nvPr/>
        </p:nvSpPr>
        <p:spPr>
          <a:xfrm>
            <a:off x="3401568"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Shape 9"/>
          <p:cNvSpPr/>
          <p:nvPr/>
        </p:nvSpPr>
        <p:spPr>
          <a:xfrm>
            <a:off x="4087368" y="2057400"/>
            <a:ext cx="2029968" cy="0"/>
          </a:xfrm>
          <a:prstGeom prst="line">
            <a:avLst/>
          </a:prstGeom>
          <a:noFill/>
          <a:ln w="25400">
            <a:solidFill>
              <a:srgbClr val="D0D7DE"/>
            </a:solidFill>
            <a:prstDash val="solid"/>
            <a:tailEnd type="triangle"/>
          </a:ln>
        </p:spPr>
      </p:sp>
      <p:sp>
        <p:nvSpPr>
          <p:cNvPr id="12" name="Text 10"/>
          <p:cNvSpPr txBox="1"/>
          <p:nvPr/>
        </p:nvSpPr>
        <p:spPr>
          <a:xfrm>
            <a:off x="3401568" y="2468880"/>
            <a:ext cx="251460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Clean it</a:t>
            </a:r>
            <a:endParaRPr lang="en-US" sz="1900" dirty="0"/>
          </a:p>
        </p:txBody>
      </p:sp>
      <p:sp>
        <p:nvSpPr>
          <p:cNvPr id="13" name="Text 11"/>
          <p:cNvSpPr txBox="1"/>
          <p:nvPr/>
        </p:nvSpPr>
        <p:spPr>
          <a:xfrm>
            <a:off x="3401568" y="2834640"/>
            <a:ext cx="242316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OpenCV: grey, then pure black and white</a:t>
            </a:r>
            <a:endParaRPr lang="en-US" sz="1500" dirty="0"/>
          </a:p>
        </p:txBody>
      </p:sp>
      <p:sp>
        <p:nvSpPr>
          <p:cNvPr id="14" name="Shape 12"/>
          <p:cNvSpPr/>
          <p:nvPr/>
        </p:nvSpPr>
        <p:spPr>
          <a:xfrm>
            <a:off x="6254496" y="1783080"/>
            <a:ext cx="548640" cy="548640"/>
          </a:xfrm>
          <a:prstGeom prst="ellipse">
            <a:avLst/>
          </a:prstGeom>
          <a:solidFill>
            <a:srgbClr val="0891B2"/>
          </a:solidFill>
          <a:ln w="12700">
            <a:solidFill>
              <a:srgbClr val="0891B2"/>
            </a:solidFill>
            <a:prstDash val="solid"/>
          </a:ln>
        </p:spPr>
      </p:sp>
      <p:sp>
        <p:nvSpPr>
          <p:cNvPr id="15" name="Text 13"/>
          <p:cNvSpPr txBox="1"/>
          <p:nvPr/>
        </p:nvSpPr>
        <p:spPr>
          <a:xfrm>
            <a:off x="6254496"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Shape 14"/>
          <p:cNvSpPr/>
          <p:nvPr/>
        </p:nvSpPr>
        <p:spPr>
          <a:xfrm>
            <a:off x="6940296" y="2057400"/>
            <a:ext cx="2029968" cy="0"/>
          </a:xfrm>
          <a:prstGeom prst="line">
            <a:avLst/>
          </a:prstGeom>
          <a:noFill/>
          <a:ln w="25400">
            <a:solidFill>
              <a:srgbClr val="D0D7DE"/>
            </a:solidFill>
            <a:prstDash val="solid"/>
            <a:tailEnd type="triangle"/>
          </a:ln>
        </p:spPr>
      </p:sp>
      <p:sp>
        <p:nvSpPr>
          <p:cNvPr id="17" name="Text 15"/>
          <p:cNvSpPr txBox="1"/>
          <p:nvPr/>
        </p:nvSpPr>
        <p:spPr>
          <a:xfrm>
            <a:off x="6254496" y="2468880"/>
            <a:ext cx="251460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Read it</a:t>
            </a:r>
            <a:endParaRPr lang="en-US" sz="1900" dirty="0"/>
          </a:p>
        </p:txBody>
      </p:sp>
      <p:sp>
        <p:nvSpPr>
          <p:cNvPr id="18" name="Text 16"/>
          <p:cNvSpPr txBox="1"/>
          <p:nvPr/>
        </p:nvSpPr>
        <p:spPr>
          <a:xfrm>
            <a:off x="6254496" y="2834640"/>
            <a:ext cx="242316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pytesseract and Tesseract</a:t>
            </a:r>
            <a:endParaRPr lang="en-US" sz="1500" dirty="0"/>
          </a:p>
        </p:txBody>
      </p:sp>
      <p:sp>
        <p:nvSpPr>
          <p:cNvPr id="19" name="Shape 17"/>
          <p:cNvSpPr/>
          <p:nvPr/>
        </p:nvSpPr>
        <p:spPr>
          <a:xfrm>
            <a:off x="9107424" y="1783080"/>
            <a:ext cx="548640" cy="548640"/>
          </a:xfrm>
          <a:prstGeom prst="ellipse">
            <a:avLst/>
          </a:prstGeom>
          <a:solidFill>
            <a:srgbClr val="0891B2"/>
          </a:solidFill>
          <a:ln w="12700">
            <a:solidFill>
              <a:srgbClr val="0891B2"/>
            </a:solidFill>
            <a:prstDash val="solid"/>
          </a:ln>
        </p:spPr>
      </p:sp>
      <p:sp>
        <p:nvSpPr>
          <p:cNvPr id="20" name="Text 18"/>
          <p:cNvSpPr txBox="1"/>
          <p:nvPr/>
        </p:nvSpPr>
        <p:spPr>
          <a:xfrm>
            <a:off x="9107424"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9107424" y="2468880"/>
            <a:ext cx="251460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Tidy it</a:t>
            </a:r>
            <a:endParaRPr lang="en-US" sz="1900" dirty="0"/>
          </a:p>
        </p:txBody>
      </p:sp>
      <p:sp>
        <p:nvSpPr>
          <p:cNvPr id="22" name="Text 20"/>
          <p:cNvSpPr txBox="1"/>
          <p:nvPr/>
        </p:nvSpPr>
        <p:spPr>
          <a:xfrm>
            <a:off x="9107424" y="2834640"/>
            <a:ext cx="242316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pandas: one row per line of text</a:t>
            </a:r>
            <a:endParaRPr lang="en-US" sz="1500" dirty="0"/>
          </a:p>
        </p:txBody>
      </p:sp>
      <p:sp>
        <p:nvSpPr>
          <p:cNvPr id="23" name="Text 21"/>
          <p:cNvSpPr txBox="1"/>
          <p:nvPr/>
        </p:nvSpPr>
        <p:spPr>
          <a:xfrm>
            <a:off x="548640" y="3749040"/>
            <a:ext cx="5120640" cy="365760"/>
          </a:xfrm>
          <a:prstGeom prst="rect">
            <a:avLst/>
          </a:prstGeom>
          <a:noFill/>
          <a:ln/>
        </p:spPr>
        <p:txBody>
          <a:bodyPr wrap="square" lIns="0" tIns="0" rIns="0" bIns="0" rtlCol="0" anchor="t"/>
          <a:lstStyle/>
          <a:p>
            <a:pPr indent="0" marL="0">
              <a:buNone/>
            </a:pPr>
            <a:r>
              <a:rPr lang="en-US" sz="1500" b="1" dirty="0">
                <a:solidFill>
                  <a:srgbClr val="57606A"/>
                </a:solidFill>
                <a:latin typeface="Calibri" pitchFamily="34" charset="0"/>
                <a:ea typeface="Calibri" pitchFamily="34" charset="-122"/>
                <a:cs typeface="Calibri" pitchFamily="34" charset="-120"/>
              </a:rPr>
              <a:t>The scanned page</a:t>
            </a:r>
            <a:endParaRPr lang="en-US" sz="1500" dirty="0"/>
          </a:p>
        </p:txBody>
      </p:sp>
      <p:pic>
        <p:nvPicPr>
          <p:cNvPr id="24" name="Image 0" descr="D:/DA2009/CSE-Scraping-Project/guide_content/images/ocr_step_original.png">    </p:cNvPr>
          <p:cNvPicPr>
            <a:picLocks noChangeAspect="1"/>
          </p:cNvPicPr>
          <p:nvPr/>
        </p:nvPicPr>
        <p:blipFill>
          <a:blip r:embed="rId1"/>
          <a:stretch>
            <a:fillRect/>
          </a:stretch>
        </p:blipFill>
        <p:spPr>
          <a:xfrm>
            <a:off x="548640" y="4160520"/>
            <a:ext cx="5120640" cy="1229793"/>
          </a:xfrm>
          <a:prstGeom prst="rect">
            <a:avLst/>
          </a:prstGeom>
        </p:spPr>
      </p:pic>
      <p:sp>
        <p:nvSpPr>
          <p:cNvPr id="25" name="Shape 22"/>
          <p:cNvSpPr/>
          <p:nvPr/>
        </p:nvSpPr>
        <p:spPr>
          <a:xfrm>
            <a:off x="548640" y="4160520"/>
            <a:ext cx="5120640" cy="1229793"/>
          </a:xfrm>
          <a:prstGeom prst="rect">
            <a:avLst/>
          </a:prstGeom>
          <a:ln w="12700">
            <a:solidFill>
              <a:srgbClr val="D0D7DE"/>
            </a:solidFill>
            <a:prstDash val="solid"/>
          </a:ln>
        </p:spPr>
      </p:sp>
      <p:sp>
        <p:nvSpPr>
          <p:cNvPr id="26" name="Text 23"/>
          <p:cNvSpPr txBox="1"/>
          <p:nvPr/>
        </p:nvSpPr>
        <p:spPr>
          <a:xfrm>
            <a:off x="6522415" y="3749040"/>
            <a:ext cx="5120640" cy="365760"/>
          </a:xfrm>
          <a:prstGeom prst="rect">
            <a:avLst/>
          </a:prstGeom>
          <a:noFill/>
          <a:ln/>
        </p:spPr>
        <p:txBody>
          <a:bodyPr wrap="square" lIns="0" tIns="0" rIns="0" bIns="0" rtlCol="0" anchor="t"/>
          <a:lstStyle/>
          <a:p>
            <a:pPr indent="0" marL="0">
              <a:buNone/>
            </a:pPr>
            <a:r>
              <a:rPr lang="en-US" sz="1500" b="1" dirty="0">
                <a:solidFill>
                  <a:srgbClr val="57606A"/>
                </a:solidFill>
                <a:latin typeface="Calibri" pitchFamily="34" charset="0"/>
                <a:ea typeface="Calibri" pitchFamily="34" charset="-122"/>
                <a:cs typeface="Calibri" pitchFamily="34" charset="-120"/>
              </a:rPr>
              <a:t>After cleaning - ready to read</a:t>
            </a:r>
            <a:endParaRPr lang="en-US" sz="1500" dirty="0"/>
          </a:p>
        </p:txBody>
      </p:sp>
      <p:pic>
        <p:nvPicPr>
          <p:cNvPr id="27" name="Image 1" descr="D:/DA2009/CSE-Scraping-Project/guide_content/images/ocr_step_threshold.png">    </p:cNvPr>
          <p:cNvPicPr>
            <a:picLocks noChangeAspect="1"/>
          </p:cNvPicPr>
          <p:nvPr/>
        </p:nvPicPr>
        <p:blipFill>
          <a:blip r:embed="rId2"/>
          <a:stretch>
            <a:fillRect/>
          </a:stretch>
        </p:blipFill>
        <p:spPr>
          <a:xfrm>
            <a:off x="6522415" y="4160520"/>
            <a:ext cx="5120640" cy="1229793"/>
          </a:xfrm>
          <a:prstGeom prst="rect">
            <a:avLst/>
          </a:prstGeom>
        </p:spPr>
      </p:pic>
      <p:sp>
        <p:nvSpPr>
          <p:cNvPr id="28" name="Shape 24"/>
          <p:cNvSpPr/>
          <p:nvPr/>
        </p:nvSpPr>
        <p:spPr>
          <a:xfrm>
            <a:off x="6522415" y="4160520"/>
            <a:ext cx="5120640" cy="1229793"/>
          </a:xfrm>
          <a:prstGeom prst="rect">
            <a:avLst/>
          </a:prstGeom>
          <a:ln w="12700">
            <a:solidFill>
              <a:srgbClr val="D0D7DE"/>
            </a:solidFill>
            <a:prstDash val="solid"/>
          </a:ln>
        </p:spPr>
      </p:sp>
      <p:sp>
        <p:nvSpPr>
          <p:cNvPr id="29" name="Shape 25"/>
          <p:cNvSpPr/>
          <p:nvPr/>
        </p:nvSpPr>
        <p:spPr>
          <a:xfrm>
            <a:off x="5779008" y="4775417"/>
            <a:ext cx="633679" cy="0"/>
          </a:xfrm>
          <a:prstGeom prst="line">
            <a:avLst/>
          </a:prstGeom>
          <a:noFill/>
          <a:ln w="25400">
            <a:solidFill>
              <a:srgbClr val="0891B2"/>
            </a:solidFill>
            <a:prstDash val="solid"/>
            <a:tailEnd type="triangle"/>
          </a:ln>
        </p:spPr>
      </p:sp>
      <p:sp>
        <p:nvSpPr>
          <p:cNvPr id="30" name="Text 26"/>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700" b="1" dirty="0">
                <a:solidFill>
                  <a:srgbClr val="0891B2"/>
                </a:solidFill>
                <a:latin typeface="Calibri" pitchFamily="34" charset="0"/>
                <a:ea typeface="Calibri" pitchFamily="34" charset="-122"/>
                <a:cs typeface="Calibri" pitchFamily="34" charset="-120"/>
              </a:rPr>
              <a:t>Tesseract gives every word a confidence score, so we know which words to check by hand.</a:t>
            </a:r>
            <a:endParaRPr lang="en-US" sz="1700" dirty="0"/>
          </a:p>
        </p:txBody>
      </p:sp>
      <p:sp>
        <p:nvSpPr>
          <p:cNvPr id="31" name="Text 27"/>
          <p:cNvSpPr txBox="1"/>
          <p:nvPr/>
        </p:nvSpPr>
        <p:spPr>
          <a:xfrm>
            <a:off x="11185855" y="6400800"/>
            <a:ext cx="457200" cy="274320"/>
          </a:xfrm>
          <a:prstGeom prst="rect">
            <a:avLst/>
          </a:prstGeom>
          <a:noFill/>
          <a:ln/>
        </p:spPr>
        <p:txBody>
          <a:bodyPr wrap="square" lIns="0" tIns="0" rIns="0" bIns="0" rtlCol="0" anchor="t"/>
          <a:lstStyle/>
          <a:p>
            <a:pPr algn="r" indent="0" marL="0">
              <a:buNone/>
            </a:pPr>
            <a:r>
              <a:rPr lang="en-US" sz="1100" dirty="0">
                <a:solidFill>
                  <a:srgbClr val="57606A"/>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600" b="1" dirty="0">
                <a:solidFill>
                  <a:srgbClr val="161B22"/>
                </a:solidFill>
                <a:latin typeface="Calibri" pitchFamily="34" charset="0"/>
                <a:ea typeface="Calibri" pitchFamily="34" charset="-122"/>
                <a:cs typeface="Calibri" pitchFamily="34" charset="-120"/>
              </a:rPr>
              <a:t>Clean, check, chart and save</a:t>
            </a:r>
            <a:endParaRPr lang="en-US" sz="3600" dirty="0"/>
          </a:p>
        </p:txBody>
      </p:sp>
      <p:sp>
        <p:nvSpPr>
          <p:cNvPr id="3" name="Text 1"/>
          <p:cNvSpPr txBox="1"/>
          <p:nvPr/>
        </p:nvSpPr>
        <p:spPr>
          <a:xfrm>
            <a:off x="548640" y="1143000"/>
            <a:ext cx="11094415" cy="411480"/>
          </a:xfrm>
          <a:prstGeom prst="rect">
            <a:avLst/>
          </a:prstGeom>
          <a:noFill/>
          <a:ln/>
        </p:spPr>
        <p:txBody>
          <a:bodyPr wrap="square" lIns="0" tIns="0" rIns="0" bIns="0" rtlCol="0" anchor="t"/>
          <a:lstStyle/>
          <a:p>
            <a:pPr indent="0" marL="0">
              <a:buNone/>
            </a:pPr>
            <a:r>
              <a:rPr lang="en-US" sz="1800" dirty="0">
                <a:solidFill>
                  <a:srgbClr val="57606A"/>
                </a:solidFill>
                <a:latin typeface="Calibri" pitchFamily="34" charset="0"/>
                <a:ea typeface="Calibri" pitchFamily="34" charset="-122"/>
                <a:cs typeface="Calibri" pitchFamily="34" charset="-120"/>
              </a:rPr>
              <a:t>Data from a website is never ready to use straight away</a:t>
            </a:r>
            <a:endParaRPr lang="en-US" sz="1800" dirty="0"/>
          </a:p>
        </p:txBody>
      </p:sp>
      <p:graphicFrame>
        <p:nvGraphicFramePr>
          <p:cNvPr id="4" name="Chart 0" descr=""/>
          <p:cNvGraphicFramePr/>
          <p:nvPr/>
        </p:nvGraphicFramePr>
        <p:xfrm>
          <a:off x="548640" y="1783080"/>
          <a:ext cx="5394960" cy="4343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46520" y="1874520"/>
            <a:ext cx="548640" cy="548640"/>
          </a:xfrm>
          <a:prstGeom prst="ellipse">
            <a:avLst/>
          </a:prstGeom>
          <a:solidFill>
            <a:srgbClr val="0891B2"/>
          </a:solidFill>
          <a:ln w="12700">
            <a:solidFill>
              <a:srgbClr val="0891B2"/>
            </a:solidFill>
            <a:prstDash val="solid"/>
          </a:ln>
        </p:spPr>
      </p:sp>
      <p:sp>
        <p:nvSpPr>
          <p:cNvPr id="6" name="Text 3"/>
          <p:cNvSpPr txBox="1"/>
          <p:nvPr/>
        </p:nvSpPr>
        <p:spPr>
          <a:xfrm>
            <a:off x="6446520" y="18745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7223760" y="1856232"/>
            <a:ext cx="4510735" cy="384048"/>
          </a:xfrm>
          <a:prstGeom prst="rect">
            <a:avLst/>
          </a:prstGeom>
          <a:noFill/>
          <a:ln/>
        </p:spPr>
        <p:txBody>
          <a:bodyPr wrap="square" lIns="0" tIns="0" rIns="0" bIns="0" rtlCol="0" anchor="t"/>
          <a:lstStyle/>
          <a:p>
            <a:pPr indent="0" marL="0">
              <a:buNone/>
            </a:pPr>
            <a:r>
              <a:rPr lang="en-US" sz="2000" b="1" dirty="0">
                <a:solidFill>
                  <a:srgbClr val="161B22"/>
                </a:solidFill>
                <a:latin typeface="Calibri" pitchFamily="34" charset="0"/>
                <a:ea typeface="Calibri" pitchFamily="34" charset="-122"/>
                <a:cs typeface="Calibri" pitchFamily="34" charset="-120"/>
              </a:rPr>
              <a:t>Clean</a:t>
            </a:r>
            <a:endParaRPr lang="en-US" sz="2000" dirty="0"/>
          </a:p>
        </p:txBody>
      </p:sp>
      <p:sp>
        <p:nvSpPr>
          <p:cNvPr id="8" name="Text 5"/>
          <p:cNvSpPr txBox="1"/>
          <p:nvPr/>
        </p:nvSpPr>
        <p:spPr>
          <a:xfrm>
            <a:off x="7223760" y="2258568"/>
            <a:ext cx="4510735" cy="91440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Dates arrive as huge numbers - we turn them back into dates, in Sri Lanka time. Text that is really numbers becomes numbers.</a:t>
            </a:r>
            <a:endParaRPr lang="en-US" sz="1500" dirty="0"/>
          </a:p>
        </p:txBody>
      </p:sp>
      <p:sp>
        <p:nvSpPr>
          <p:cNvPr id="9" name="Shape 6"/>
          <p:cNvSpPr/>
          <p:nvPr/>
        </p:nvSpPr>
        <p:spPr>
          <a:xfrm>
            <a:off x="6446520" y="3291840"/>
            <a:ext cx="548640" cy="548640"/>
          </a:xfrm>
          <a:prstGeom prst="ellipse">
            <a:avLst/>
          </a:prstGeom>
          <a:solidFill>
            <a:srgbClr val="0891B2"/>
          </a:solidFill>
          <a:ln w="12700">
            <a:solidFill>
              <a:srgbClr val="0891B2"/>
            </a:solidFill>
            <a:prstDash val="solid"/>
          </a:ln>
        </p:spPr>
      </p:sp>
      <p:sp>
        <p:nvSpPr>
          <p:cNvPr id="10" name="Text 7"/>
          <p:cNvSpPr txBox="1"/>
          <p:nvPr/>
        </p:nvSpPr>
        <p:spPr>
          <a:xfrm>
            <a:off x="6446520" y="32918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7223760" y="3273552"/>
            <a:ext cx="4510735" cy="384048"/>
          </a:xfrm>
          <a:prstGeom prst="rect">
            <a:avLst/>
          </a:prstGeom>
          <a:noFill/>
          <a:ln/>
        </p:spPr>
        <p:txBody>
          <a:bodyPr wrap="square" lIns="0" tIns="0" rIns="0" bIns="0" rtlCol="0" anchor="t"/>
          <a:lstStyle/>
          <a:p>
            <a:pPr indent="0" marL="0">
              <a:buNone/>
            </a:pPr>
            <a:r>
              <a:rPr lang="en-US" sz="2000" b="1" dirty="0">
                <a:solidFill>
                  <a:srgbClr val="161B22"/>
                </a:solidFill>
                <a:latin typeface="Calibri" pitchFamily="34" charset="0"/>
                <a:ea typeface="Calibri" pitchFamily="34" charset="-122"/>
                <a:cs typeface="Calibri" pitchFamily="34" charset="-120"/>
              </a:rPr>
              <a:t>Check</a:t>
            </a:r>
            <a:endParaRPr lang="en-US" sz="2000" dirty="0"/>
          </a:p>
        </p:txBody>
      </p:sp>
      <p:sp>
        <p:nvSpPr>
          <p:cNvPr id="12" name="Text 9"/>
          <p:cNvSpPr txBox="1"/>
          <p:nvPr/>
        </p:nvSpPr>
        <p:spPr>
          <a:xfrm>
            <a:off x="7223760" y="3675888"/>
            <a:ext cx="4510735" cy="91440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All 6 checks passed: no negative prices, no company twice, and 99.8% of cells have a value.</a:t>
            </a:r>
            <a:endParaRPr lang="en-US" sz="1500" dirty="0"/>
          </a:p>
        </p:txBody>
      </p:sp>
      <p:sp>
        <p:nvSpPr>
          <p:cNvPr id="13" name="Shape 10"/>
          <p:cNvSpPr/>
          <p:nvPr/>
        </p:nvSpPr>
        <p:spPr>
          <a:xfrm>
            <a:off x="6446520" y="4709160"/>
            <a:ext cx="548640" cy="548640"/>
          </a:xfrm>
          <a:prstGeom prst="ellipse">
            <a:avLst/>
          </a:prstGeom>
          <a:solidFill>
            <a:srgbClr val="0891B2"/>
          </a:solidFill>
          <a:ln w="12700">
            <a:solidFill>
              <a:srgbClr val="0891B2"/>
            </a:solidFill>
            <a:prstDash val="solid"/>
          </a:ln>
        </p:spPr>
      </p:sp>
      <p:sp>
        <p:nvSpPr>
          <p:cNvPr id="14" name="Text 11"/>
          <p:cNvSpPr txBox="1"/>
          <p:nvPr/>
        </p:nvSpPr>
        <p:spPr>
          <a:xfrm>
            <a:off x="6446520" y="47091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7223760" y="4690872"/>
            <a:ext cx="4510735" cy="384048"/>
          </a:xfrm>
          <a:prstGeom prst="rect">
            <a:avLst/>
          </a:prstGeom>
          <a:noFill/>
          <a:ln/>
        </p:spPr>
        <p:txBody>
          <a:bodyPr wrap="square" lIns="0" tIns="0" rIns="0" bIns="0" rtlCol="0" anchor="t"/>
          <a:lstStyle/>
          <a:p>
            <a:pPr indent="0" marL="0">
              <a:buNone/>
            </a:pPr>
            <a:r>
              <a:rPr lang="en-US" sz="2000" b="1" dirty="0">
                <a:solidFill>
                  <a:srgbClr val="161B22"/>
                </a:solidFill>
                <a:latin typeface="Calibri" pitchFamily="34" charset="0"/>
                <a:ea typeface="Calibri" pitchFamily="34" charset="-122"/>
                <a:cs typeface="Calibri" pitchFamily="34" charset="-120"/>
              </a:rPr>
              <a:t>Save</a:t>
            </a:r>
            <a:endParaRPr lang="en-US" sz="2000" dirty="0"/>
          </a:p>
        </p:txBody>
      </p:sp>
      <p:sp>
        <p:nvSpPr>
          <p:cNvPr id="16" name="Text 13"/>
          <p:cNvSpPr txBox="1"/>
          <p:nvPr/>
        </p:nvSpPr>
        <p:spPr>
          <a:xfrm>
            <a:off x="7223760" y="5093208"/>
            <a:ext cx="4510735" cy="91440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CSV, Excel and JSON - with the Colombo Stock Exchange credited inside every file.</a:t>
            </a:r>
            <a:endParaRPr lang="en-US" sz="1500" dirty="0"/>
          </a:p>
        </p:txBody>
      </p:sp>
      <p:sp>
        <p:nvSpPr>
          <p:cNvPr id="17" name="Text 14"/>
          <p:cNvSpPr txBox="1"/>
          <p:nvPr/>
        </p:nvSpPr>
        <p:spPr>
          <a:xfrm>
            <a:off x="11185855" y="6400800"/>
            <a:ext cx="457200" cy="274320"/>
          </a:xfrm>
          <a:prstGeom prst="rect">
            <a:avLst/>
          </a:prstGeom>
          <a:noFill/>
          <a:ln/>
        </p:spPr>
        <p:txBody>
          <a:bodyPr wrap="square" lIns="0" tIns="0" rIns="0" bIns="0" rtlCol="0" anchor="t"/>
          <a:lstStyle/>
          <a:p>
            <a:pPr algn="r" indent="0" marL="0">
              <a:buNone/>
            </a:pPr>
            <a:r>
              <a:rPr lang="en-US" sz="1100" dirty="0">
                <a:solidFill>
                  <a:srgbClr val="57606A"/>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73152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Who did what</a:t>
            </a:r>
            <a:endParaRPr lang="en-US" sz="3600" dirty="0"/>
          </a:p>
        </p:txBody>
      </p:sp>
      <p:sp>
        <p:nvSpPr>
          <p:cNvPr id="3" name="Text 1"/>
          <p:cNvSpPr txBox="1"/>
          <p:nvPr/>
        </p:nvSpPr>
        <p:spPr>
          <a:xfrm>
            <a:off x="548640" y="1143000"/>
            <a:ext cx="11094415" cy="411480"/>
          </a:xfrm>
          <a:prstGeom prst="rect">
            <a:avLst/>
          </a:prstGeom>
          <a:noFill/>
          <a:ln/>
        </p:spPr>
        <p:txBody>
          <a:bodyPr wrap="square" lIns="0" tIns="0" rIns="0" bIns="0" rtlCol="0" anchor="t"/>
          <a:lstStyle/>
          <a:p>
            <a:pPr indent="0" marL="0">
              <a:buNone/>
            </a:pPr>
            <a:r>
              <a:rPr lang="en-US" sz="1800" dirty="0">
                <a:solidFill>
                  <a:srgbClr val="C9D1D9"/>
                </a:solidFill>
                <a:latin typeface="Calibri" pitchFamily="34" charset="0"/>
                <a:ea typeface="Calibri" pitchFamily="34" charset="-122"/>
                <a:cs typeface="Calibri" pitchFamily="34" charset="-120"/>
              </a:rPr>
              <a:t>Each tab in the app is labelled with the member whose part it shows</a:t>
            </a:r>
            <a:endParaRPr lang="en-US" sz="1800" dirty="0"/>
          </a:p>
        </p:txBody>
      </p:sp>
      <p:sp>
        <p:nvSpPr>
          <p:cNvPr id="4" name="Shape 2"/>
          <p:cNvSpPr/>
          <p:nvPr/>
        </p:nvSpPr>
        <p:spPr>
          <a:xfrm>
            <a:off x="548640" y="1828800"/>
            <a:ext cx="5440680" cy="1417320"/>
          </a:xfrm>
          <a:prstGeom prst="roundRect">
            <a:avLst>
              <a:gd name="adj" fmla="val 7742"/>
            </a:avLst>
          </a:prstGeom>
          <a:solidFill>
            <a:srgbClr val="161B22"/>
          </a:solidFill>
          <a:ln w="12700">
            <a:solidFill>
              <a:srgbClr val="161B22"/>
            </a:solidFill>
            <a:prstDash val="solid"/>
          </a:ln>
        </p:spPr>
      </p:sp>
      <p:sp>
        <p:nvSpPr>
          <p:cNvPr id="5" name="Shape 3"/>
          <p:cNvSpPr/>
          <p:nvPr/>
        </p:nvSpPr>
        <p:spPr>
          <a:xfrm>
            <a:off x="822960" y="2103120"/>
            <a:ext cx="502920" cy="502920"/>
          </a:xfrm>
          <a:prstGeom prst="ellipse">
            <a:avLst/>
          </a:prstGeom>
          <a:solidFill>
            <a:srgbClr val="22D3EE"/>
          </a:solidFill>
          <a:ln w="12700">
            <a:solidFill>
              <a:srgbClr val="22D3EE"/>
            </a:solidFill>
            <a:prstDash val="solid"/>
          </a:ln>
        </p:spPr>
      </p:sp>
      <p:sp>
        <p:nvSpPr>
          <p:cNvPr id="6" name="Text 4"/>
          <p:cNvSpPr txBox="1"/>
          <p:nvPr/>
        </p:nvSpPr>
        <p:spPr>
          <a:xfrm>
            <a:off x="822960" y="2103120"/>
            <a:ext cx="502920" cy="502920"/>
          </a:xfrm>
          <a:prstGeom prst="rect">
            <a:avLst/>
          </a:prstGeom>
          <a:noFill/>
          <a:ln/>
        </p:spPr>
        <p:txBody>
          <a:bodyPr wrap="square" lIns="0" tIns="0" rIns="0" bIns="0"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508760" y="2075688"/>
            <a:ext cx="425196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Nuhan</a:t>
            </a:r>
            <a:pPr indent="0" marL="0">
              <a:buNone/>
            </a:pPr>
            <a:r>
              <a:rPr lang="en-US" sz="2000" dirty="0">
                <a:solidFill>
                  <a:srgbClr val="8B949E"/>
                </a:solidFill>
                <a:latin typeface="Calibri" pitchFamily="34" charset="0"/>
                <a:ea typeface="Calibri" pitchFamily="34" charset="-122"/>
                <a:cs typeface="Calibri" pitchFamily="34" charset="-120"/>
              </a:rPr>
              <a:t>   24ada076</a:t>
            </a:r>
            <a:endParaRPr lang="en-US" sz="2000" dirty="0"/>
          </a:p>
        </p:txBody>
      </p:sp>
      <p:sp>
        <p:nvSpPr>
          <p:cNvPr id="8" name="Text 6"/>
          <p:cNvSpPr txBox="1"/>
          <p:nvPr/>
        </p:nvSpPr>
        <p:spPr>
          <a:xfrm>
            <a:off x="1508760" y="2514600"/>
            <a:ext cx="4251960" cy="640080"/>
          </a:xfrm>
          <a:prstGeom prst="rect">
            <a:avLst/>
          </a:prstGeom>
          <a:noFill/>
          <a:ln/>
        </p:spPr>
        <p:txBody>
          <a:bodyPr wrap="square" lIns="0" tIns="0" rIns="0" bIns="0" rtlCol="0" anchor="t"/>
          <a:lstStyle/>
          <a:p>
            <a:pPr indent="0" marL="0">
              <a:buNone/>
            </a:pPr>
            <a:r>
              <a:rPr lang="en-US" sz="1500" dirty="0">
                <a:solidFill>
                  <a:srgbClr val="C9D1D9"/>
                </a:solidFill>
                <a:latin typeface="Calibri" pitchFamily="34" charset="0"/>
                <a:ea typeface="Calibri" pitchFamily="34" charset="-122"/>
                <a:cs typeface="Calibri" pitchFamily="34" charset="-120"/>
              </a:rPr>
              <a:t>Ethical scraping and robots.txt, BeautifulSoup, and reading PDFs</a:t>
            </a:r>
            <a:endParaRPr lang="en-US" sz="1500" dirty="0"/>
          </a:p>
        </p:txBody>
      </p:sp>
      <p:sp>
        <p:nvSpPr>
          <p:cNvPr id="9" name="Shape 7"/>
          <p:cNvSpPr/>
          <p:nvPr/>
        </p:nvSpPr>
        <p:spPr>
          <a:xfrm>
            <a:off x="6199632" y="1828800"/>
            <a:ext cx="5440680" cy="1417320"/>
          </a:xfrm>
          <a:prstGeom prst="roundRect">
            <a:avLst>
              <a:gd name="adj" fmla="val 7742"/>
            </a:avLst>
          </a:prstGeom>
          <a:solidFill>
            <a:srgbClr val="161B22"/>
          </a:solidFill>
          <a:ln w="12700">
            <a:solidFill>
              <a:srgbClr val="161B22"/>
            </a:solidFill>
            <a:prstDash val="solid"/>
          </a:ln>
        </p:spPr>
      </p:sp>
      <p:sp>
        <p:nvSpPr>
          <p:cNvPr id="10" name="Shape 8"/>
          <p:cNvSpPr/>
          <p:nvPr/>
        </p:nvSpPr>
        <p:spPr>
          <a:xfrm>
            <a:off x="6473952" y="2103120"/>
            <a:ext cx="502920" cy="502920"/>
          </a:xfrm>
          <a:prstGeom prst="ellipse">
            <a:avLst/>
          </a:prstGeom>
          <a:solidFill>
            <a:srgbClr val="22D3EE"/>
          </a:solidFill>
          <a:ln w="12700">
            <a:solidFill>
              <a:srgbClr val="22D3EE"/>
            </a:solidFill>
            <a:prstDash val="solid"/>
          </a:ln>
        </p:spPr>
      </p:sp>
      <p:sp>
        <p:nvSpPr>
          <p:cNvPr id="11" name="Text 9"/>
          <p:cNvSpPr txBox="1"/>
          <p:nvPr/>
        </p:nvSpPr>
        <p:spPr>
          <a:xfrm>
            <a:off x="6473952" y="2103120"/>
            <a:ext cx="502920" cy="502920"/>
          </a:xfrm>
          <a:prstGeom prst="rect">
            <a:avLst/>
          </a:prstGeom>
          <a:noFill/>
          <a:ln/>
        </p:spPr>
        <p:txBody>
          <a:bodyPr wrap="square" lIns="0" tIns="0" rIns="0" bIns="0"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7159752" y="2075688"/>
            <a:ext cx="425196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Pasindu</a:t>
            </a:r>
            <a:pPr indent="0" marL="0">
              <a:buNone/>
            </a:pPr>
            <a:r>
              <a:rPr lang="en-US" sz="2000" dirty="0">
                <a:solidFill>
                  <a:srgbClr val="8B949E"/>
                </a:solidFill>
                <a:latin typeface="Calibri" pitchFamily="34" charset="0"/>
                <a:ea typeface="Calibri" pitchFamily="34" charset="-122"/>
                <a:cs typeface="Calibri" pitchFamily="34" charset="-120"/>
              </a:rPr>
              <a:t>   25ada072</a:t>
            </a:r>
            <a:endParaRPr lang="en-US" sz="2000" dirty="0"/>
          </a:p>
        </p:txBody>
      </p:sp>
      <p:sp>
        <p:nvSpPr>
          <p:cNvPr id="13" name="Text 11"/>
          <p:cNvSpPr txBox="1"/>
          <p:nvPr/>
        </p:nvSpPr>
        <p:spPr>
          <a:xfrm>
            <a:off x="7159752" y="2514600"/>
            <a:ext cx="4251960" cy="640080"/>
          </a:xfrm>
          <a:prstGeom prst="rect">
            <a:avLst/>
          </a:prstGeom>
          <a:noFill/>
          <a:ln/>
        </p:spPr>
        <p:txBody>
          <a:bodyPr wrap="square" lIns="0" tIns="0" rIns="0" bIns="0" rtlCol="0" anchor="t"/>
          <a:lstStyle/>
          <a:p>
            <a:pPr indent="0" marL="0">
              <a:buNone/>
            </a:pPr>
            <a:r>
              <a:rPr lang="en-US" sz="1500" dirty="0">
                <a:solidFill>
                  <a:srgbClr val="C9D1D9"/>
                </a:solidFill>
                <a:latin typeface="Calibri" pitchFamily="34" charset="0"/>
                <a:ea typeface="Calibri" pitchFamily="34" charset="-122"/>
                <a:cs typeface="Calibri" pitchFamily="34" charset="-120"/>
              </a:rPr>
              <a:t>Getting the data from the site, and Selenium</a:t>
            </a:r>
            <a:endParaRPr lang="en-US" sz="1500" dirty="0"/>
          </a:p>
        </p:txBody>
      </p:sp>
      <p:sp>
        <p:nvSpPr>
          <p:cNvPr id="14" name="Shape 12"/>
          <p:cNvSpPr/>
          <p:nvPr/>
        </p:nvSpPr>
        <p:spPr>
          <a:xfrm>
            <a:off x="548640" y="3474720"/>
            <a:ext cx="5440680" cy="1417320"/>
          </a:xfrm>
          <a:prstGeom prst="roundRect">
            <a:avLst>
              <a:gd name="adj" fmla="val 7742"/>
            </a:avLst>
          </a:prstGeom>
          <a:solidFill>
            <a:srgbClr val="161B22"/>
          </a:solidFill>
          <a:ln w="12700">
            <a:solidFill>
              <a:srgbClr val="161B22"/>
            </a:solidFill>
            <a:prstDash val="solid"/>
          </a:ln>
        </p:spPr>
      </p:sp>
      <p:sp>
        <p:nvSpPr>
          <p:cNvPr id="15" name="Shape 13"/>
          <p:cNvSpPr/>
          <p:nvPr/>
        </p:nvSpPr>
        <p:spPr>
          <a:xfrm>
            <a:off x="822960" y="3749040"/>
            <a:ext cx="502920" cy="502920"/>
          </a:xfrm>
          <a:prstGeom prst="ellipse">
            <a:avLst/>
          </a:prstGeom>
          <a:solidFill>
            <a:srgbClr val="22D3EE"/>
          </a:solidFill>
          <a:ln w="12700">
            <a:solidFill>
              <a:srgbClr val="22D3EE"/>
            </a:solidFill>
            <a:prstDash val="solid"/>
          </a:ln>
        </p:spPr>
      </p:sp>
      <p:sp>
        <p:nvSpPr>
          <p:cNvPr id="16" name="Text 14"/>
          <p:cNvSpPr txBox="1"/>
          <p:nvPr/>
        </p:nvSpPr>
        <p:spPr>
          <a:xfrm>
            <a:off x="822960" y="3749040"/>
            <a:ext cx="502920" cy="502920"/>
          </a:xfrm>
          <a:prstGeom prst="rect">
            <a:avLst/>
          </a:prstGeom>
          <a:noFill/>
          <a:ln/>
        </p:spPr>
        <p:txBody>
          <a:bodyPr wrap="square" lIns="0" tIns="0" rIns="0" bIns="0"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508760" y="3721608"/>
            <a:ext cx="425196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Sasini</a:t>
            </a:r>
            <a:pPr indent="0" marL="0">
              <a:buNone/>
            </a:pPr>
            <a:r>
              <a:rPr lang="en-US" sz="2000" dirty="0">
                <a:solidFill>
                  <a:srgbClr val="8B949E"/>
                </a:solidFill>
                <a:latin typeface="Calibri" pitchFamily="34" charset="0"/>
                <a:ea typeface="Calibri" pitchFamily="34" charset="-122"/>
                <a:cs typeface="Calibri" pitchFamily="34" charset="-120"/>
              </a:rPr>
              <a:t>   25ada073</a:t>
            </a:r>
            <a:endParaRPr lang="en-US" sz="2000" dirty="0"/>
          </a:p>
        </p:txBody>
      </p:sp>
      <p:sp>
        <p:nvSpPr>
          <p:cNvPr id="18" name="Text 16"/>
          <p:cNvSpPr txBox="1"/>
          <p:nvPr/>
        </p:nvSpPr>
        <p:spPr>
          <a:xfrm>
            <a:off x="1508760" y="4160520"/>
            <a:ext cx="4251960" cy="640080"/>
          </a:xfrm>
          <a:prstGeom prst="rect">
            <a:avLst/>
          </a:prstGeom>
          <a:noFill/>
          <a:ln/>
        </p:spPr>
        <p:txBody>
          <a:bodyPr wrap="square" lIns="0" tIns="0" rIns="0" bIns="0" rtlCol="0" anchor="t"/>
          <a:lstStyle/>
          <a:p>
            <a:pPr indent="0" marL="0">
              <a:buNone/>
            </a:pPr>
            <a:r>
              <a:rPr lang="en-US" sz="1500" dirty="0">
                <a:solidFill>
                  <a:srgbClr val="C9D1D9"/>
                </a:solidFill>
                <a:latin typeface="Calibri" pitchFamily="34" charset="0"/>
                <a:ea typeface="Calibri" pitchFamily="34" charset="-122"/>
                <a:cs typeface="Calibri" pitchFamily="34" charset="-120"/>
              </a:rPr>
              <a:t>Crawling for documents, and cleaning the data</a:t>
            </a:r>
            <a:endParaRPr lang="en-US" sz="1500" dirty="0"/>
          </a:p>
        </p:txBody>
      </p:sp>
      <p:sp>
        <p:nvSpPr>
          <p:cNvPr id="19" name="Shape 17"/>
          <p:cNvSpPr/>
          <p:nvPr/>
        </p:nvSpPr>
        <p:spPr>
          <a:xfrm>
            <a:off x="6199632" y="3474720"/>
            <a:ext cx="5440680" cy="1417320"/>
          </a:xfrm>
          <a:prstGeom prst="roundRect">
            <a:avLst>
              <a:gd name="adj" fmla="val 7742"/>
            </a:avLst>
          </a:prstGeom>
          <a:solidFill>
            <a:srgbClr val="161B22"/>
          </a:solidFill>
          <a:ln w="12700">
            <a:solidFill>
              <a:srgbClr val="161B22"/>
            </a:solidFill>
            <a:prstDash val="solid"/>
          </a:ln>
        </p:spPr>
      </p:sp>
      <p:sp>
        <p:nvSpPr>
          <p:cNvPr id="20" name="Shape 18"/>
          <p:cNvSpPr/>
          <p:nvPr/>
        </p:nvSpPr>
        <p:spPr>
          <a:xfrm>
            <a:off x="6473952" y="3749040"/>
            <a:ext cx="502920" cy="502920"/>
          </a:xfrm>
          <a:prstGeom prst="ellipse">
            <a:avLst/>
          </a:prstGeom>
          <a:solidFill>
            <a:srgbClr val="22D3EE"/>
          </a:solidFill>
          <a:ln w="12700">
            <a:solidFill>
              <a:srgbClr val="22D3EE"/>
            </a:solidFill>
            <a:prstDash val="solid"/>
          </a:ln>
        </p:spPr>
      </p:sp>
      <p:sp>
        <p:nvSpPr>
          <p:cNvPr id="21" name="Text 19"/>
          <p:cNvSpPr txBox="1"/>
          <p:nvPr/>
        </p:nvSpPr>
        <p:spPr>
          <a:xfrm>
            <a:off x="6473952" y="3749040"/>
            <a:ext cx="502920" cy="502920"/>
          </a:xfrm>
          <a:prstGeom prst="rect">
            <a:avLst/>
          </a:prstGeom>
          <a:noFill/>
          <a:ln/>
        </p:spPr>
        <p:txBody>
          <a:bodyPr wrap="square" lIns="0" tIns="0" rIns="0" bIns="0"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7159752" y="3721608"/>
            <a:ext cx="425196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Salaama</a:t>
            </a:r>
            <a:pPr indent="0" marL="0">
              <a:buNone/>
            </a:pPr>
            <a:r>
              <a:rPr lang="en-US" sz="2000" dirty="0">
                <a:solidFill>
                  <a:srgbClr val="8B949E"/>
                </a:solidFill>
                <a:latin typeface="Calibri" pitchFamily="34" charset="0"/>
                <a:ea typeface="Calibri" pitchFamily="34" charset="-122"/>
                <a:cs typeface="Calibri" pitchFamily="34" charset="-120"/>
              </a:rPr>
              <a:t>   25ada141</a:t>
            </a:r>
            <a:endParaRPr lang="en-US" sz="2000" dirty="0"/>
          </a:p>
        </p:txBody>
      </p:sp>
      <p:sp>
        <p:nvSpPr>
          <p:cNvPr id="23" name="Text 21"/>
          <p:cNvSpPr txBox="1"/>
          <p:nvPr/>
        </p:nvSpPr>
        <p:spPr>
          <a:xfrm>
            <a:off x="7159752" y="4160520"/>
            <a:ext cx="4251960" cy="640080"/>
          </a:xfrm>
          <a:prstGeom prst="rect">
            <a:avLst/>
          </a:prstGeom>
          <a:noFill/>
          <a:ln/>
        </p:spPr>
        <p:txBody>
          <a:bodyPr wrap="square" lIns="0" tIns="0" rIns="0" bIns="0" rtlCol="0" anchor="t"/>
          <a:lstStyle/>
          <a:p>
            <a:pPr indent="0" marL="0">
              <a:buNone/>
            </a:pPr>
            <a:r>
              <a:rPr lang="en-US" sz="1500" dirty="0">
                <a:solidFill>
                  <a:srgbClr val="C9D1D9"/>
                </a:solidFill>
                <a:latin typeface="Calibri" pitchFamily="34" charset="0"/>
                <a:ea typeface="Calibri" pitchFamily="34" charset="-122"/>
                <a:cs typeface="Calibri" pitchFamily="34" charset="-120"/>
              </a:rPr>
              <a:t>OCR, saving the files, and the charts</a:t>
            </a:r>
            <a:endParaRPr lang="en-US" sz="1500" dirty="0"/>
          </a:p>
        </p:txBody>
      </p:sp>
      <p:sp>
        <p:nvSpPr>
          <p:cNvPr id="24" name="Text 22"/>
          <p:cNvSpPr txBox="1"/>
          <p:nvPr/>
        </p:nvSpPr>
        <p:spPr>
          <a:xfrm>
            <a:off x="548640" y="5257800"/>
            <a:ext cx="6400800" cy="411480"/>
          </a:xfrm>
          <a:prstGeom prst="rect">
            <a:avLst/>
          </a:prstGeom>
          <a:noFill/>
          <a:ln/>
        </p:spPr>
        <p:txBody>
          <a:bodyPr wrap="square" lIns="0" tIns="0" rIns="0" bIns="0" rtlCol="0" anchor="t"/>
          <a:lstStyle/>
          <a:p>
            <a:pPr indent="0" marL="0">
              <a:buNone/>
            </a:pPr>
            <a:r>
              <a:rPr lang="en-US" sz="1600" dirty="0">
                <a:solidFill>
                  <a:srgbClr val="C9D1D9"/>
                </a:solidFill>
                <a:latin typeface="Calibri" pitchFamily="34" charset="0"/>
                <a:ea typeface="Calibri" pitchFamily="34" charset="-122"/>
                <a:cs typeface="Calibri" pitchFamily="34" charset="-120"/>
              </a:rPr>
              <a:t>The app itself was put together by all four of us.</a:t>
            </a:r>
            <a:endParaRPr lang="en-US" sz="1600" dirty="0"/>
          </a:p>
        </p:txBody>
      </p:sp>
      <p:sp>
        <p:nvSpPr>
          <p:cNvPr id="25" name="Text 23"/>
          <p:cNvSpPr txBox="1"/>
          <p:nvPr/>
        </p:nvSpPr>
        <p:spPr>
          <a:xfrm>
            <a:off x="6400800" y="5120640"/>
            <a:ext cx="5242255" cy="731520"/>
          </a:xfrm>
          <a:prstGeom prst="rect">
            <a:avLst/>
          </a:prstGeom>
          <a:noFill/>
          <a:ln/>
        </p:spPr>
        <p:txBody>
          <a:bodyPr wrap="square" lIns="0" tIns="0" rIns="0" bIns="0" rtlCol="0" anchor="t"/>
          <a:lstStyle/>
          <a:p>
            <a:pPr algn="r" indent="0" marL="0">
              <a:buNone/>
            </a:pPr>
            <a:r>
              <a:rPr lang="en-US" sz="3200" b="1" dirty="0">
                <a:solidFill>
                  <a:srgbClr val="22D3EE"/>
                </a:solidFill>
                <a:latin typeface="Calibri" pitchFamily="34" charset="0"/>
                <a:ea typeface="Calibri" pitchFamily="34" charset="-122"/>
                <a:cs typeface="Calibri" pitchFamily="34" charset="-120"/>
              </a:rPr>
              <a:t>Thank you - questions?</a:t>
            </a:r>
            <a:endParaRPr lang="en-US" sz="3200" dirty="0"/>
          </a:p>
        </p:txBody>
      </p:sp>
      <p:sp>
        <p:nvSpPr>
          <p:cNvPr id="26" name="Text 24"/>
          <p:cNvSpPr txBox="1"/>
          <p:nvPr/>
        </p:nvSpPr>
        <p:spPr>
          <a:xfrm>
            <a:off x="11185855" y="6400800"/>
            <a:ext cx="457200" cy="274320"/>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Collecting data from the Colombo Stock Exchange</dc:title>
  <dc:subject>PptxGenJS Presentation</dc:subject>
  <dc:creator>25ada072 - Pasindu, 25ada073 - Sasini, 25ada141 - Salaama, 24ada076 - Nuhan</dc:creator>
  <cp:lastModifiedBy>25ada072 - Pasindu, 25ada073 - Sasini, 25ada141 - Salaama, 24ada076 - Nuhan</cp:lastModifiedBy>
  <cp:revision>1</cp:revision>
  <dcterms:created xsi:type="dcterms:W3CDTF">2026-09-26T13:18:13Z</dcterms:created>
  <dcterms:modified xsi:type="dcterms:W3CDTF">2026-09-26T13:18:13Z</dcterms:modified>
</cp:coreProperties>
</file>